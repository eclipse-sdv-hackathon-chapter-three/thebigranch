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6" Type="http://schemas.microsoft.com/office/2020/02/relationships/classificationlabels" Target="docMetadata/LabelInfo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76" r:id="rId1"/>
    <p:sldMasterId id="2147483677" r:id="rId2"/>
  </p:sldMasterIdLst>
  <p:notesMasterIdLst>
    <p:notesMasterId r:id="rId13"/>
  </p:notes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</p:sldIdLst>
  <p:sldSz cx="9144000" cy="5143500" type="screen16x9"/>
  <p:notesSz cx="6858000" cy="9144000"/>
  <p:embeddedFontLst>
    <p:embeddedFont>
      <p:font typeface="Audiowide" panose="02000503000000020004" pitchFamily="2" charset="0"/>
      <p:regular r:id="rId14"/>
    </p:embeddedFont>
    <p:embeddedFont>
      <p:font typeface="Helvetica Neue Light" panose="02000403000000020004" pitchFamily="2" charset="0"/>
      <p:regular r:id="rId15"/>
      <p:bold r:id="rId16"/>
      <p:italic r:id="rId17"/>
      <p:boldItalic r:id="rId18"/>
    </p:embeddedFont>
    <p:embeddedFont>
      <p:font typeface="Roboto" panose="02000000000000000000" pitchFamily="2" charset="0"/>
      <p:regular r:id="rId19"/>
      <p:bold r:id="rId20"/>
      <p:italic r:id="rId21"/>
      <p:boldItalic r:id="rId22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94707"/>
  </p:normalViewPr>
  <p:slideViewPr>
    <p:cSldViewPr snapToGrid="0">
      <p:cViewPr varScale="1">
        <p:scale>
          <a:sx n="153" d="100"/>
          <a:sy n="153" d="100"/>
        </p:scale>
        <p:origin x="632" y="176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notesMaster" Target="notesMasters/notesMaster1.xml"/><Relationship Id="rId18" Type="http://schemas.openxmlformats.org/officeDocument/2006/relationships/font" Target="fonts/font5.fntdata"/><Relationship Id="rId26" Type="http://schemas.openxmlformats.org/officeDocument/2006/relationships/tableStyles" Target="tableStyles.xml"/><Relationship Id="rId3" Type="http://schemas.openxmlformats.org/officeDocument/2006/relationships/slide" Target="slides/slide1.xml"/><Relationship Id="rId21" Type="http://schemas.openxmlformats.org/officeDocument/2006/relationships/font" Target="fonts/font8.fntdata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font" Target="fonts/font4.fntdata"/><Relationship Id="rId25" Type="http://schemas.openxmlformats.org/officeDocument/2006/relationships/theme" Target="theme/theme1.xml"/><Relationship Id="rId2" Type="http://schemas.openxmlformats.org/officeDocument/2006/relationships/slideMaster" Target="slideMasters/slideMaster2.xml"/><Relationship Id="rId16" Type="http://schemas.openxmlformats.org/officeDocument/2006/relationships/font" Target="fonts/font3.fntdata"/><Relationship Id="rId20" Type="http://schemas.openxmlformats.org/officeDocument/2006/relationships/font" Target="fonts/font7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24" Type="http://schemas.openxmlformats.org/officeDocument/2006/relationships/viewProps" Target="viewProps.xml"/><Relationship Id="rId5" Type="http://schemas.openxmlformats.org/officeDocument/2006/relationships/slide" Target="slides/slide3.xml"/><Relationship Id="rId15" Type="http://schemas.openxmlformats.org/officeDocument/2006/relationships/font" Target="fonts/font2.fntdata"/><Relationship Id="rId23" Type="http://schemas.openxmlformats.org/officeDocument/2006/relationships/presProps" Target="presProps.xml"/><Relationship Id="rId10" Type="http://schemas.openxmlformats.org/officeDocument/2006/relationships/slide" Target="slides/slide8.xml"/><Relationship Id="rId19" Type="http://schemas.openxmlformats.org/officeDocument/2006/relationships/font" Target="fonts/font6.fntdata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font" Target="fonts/font1.fntdata"/><Relationship Id="rId22" Type="http://schemas.openxmlformats.org/officeDocument/2006/relationships/font" Target="fonts/font9.fntdata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g387cfdbd564_0_17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35" name="Google Shape;135;g387cfdbd564_0_17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g387cfdbd564_0_23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44" name="Google Shape;144;g387cfdbd564_0_23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Google Shape;152;g387cfdbd564_0_25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53" name="Google Shape;153;g387cfdbd564_0_25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g387cfdbd564_0_9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60" name="Google Shape;160;g387cfdbd564_0_9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" name="Google Shape;166;g387cfdbd564_0_28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67" name="Google Shape;167;g387cfdbd564_0_28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g387cfdbd564_0_26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74" name="Google Shape;174;g387cfdbd564_0_26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0" name="Google Shape;180;g387cfdbd564_0_26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81" name="Google Shape;181;g387cfdbd564_0_26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g387cfdbd564_0_27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88" name="Google Shape;188;g387cfdbd564_0_27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" name="Google Shape;194;g387cfdbd564_0_27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95" name="Google Shape;195;g387cfdbd564_0_27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g387cfdbd564_0_24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02" name="Google Shape;202;g387cfdbd564_0_24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2.xml"/></Relationships>
</file>

<file path=ppt/slideLayouts/_rels/slideLayout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2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5" name="Google Shape;15;p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4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5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3" name="Google Shape;23;p5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4" name="Google Shape;24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30" name="Google Shape;30;p7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1" name="Google Shape;31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34" name="Google Shape;34;p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" name="Google Shape;37;p9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38" name="Google Shape;38;p9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39" name="Google Shape;39;p9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0" name="Google Shape;40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>
            <a:endParaRPr/>
          </a:p>
        </p:txBody>
      </p:sp>
      <p:sp>
        <p:nvSpPr>
          <p:cNvPr id="43" name="Google Shape;43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>
            <a:spLocks noGrp="1"/>
          </p:cNvSpPr>
          <p:nvPr>
            <p:ph type="body" idx="1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7" name="Google Shape;47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 3">
  <p:cSld name="TITLE_AND_BODY_4"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3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52" name="Google Shape;52;p13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53" name="Google Shape;53;p1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60" name="Google Shape;60;p15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61" name="Google Shape;61;p1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lain slide 1">
  <p:cSld name="Custom Layout 2_1">
    <p:spTree>
      <p:nvGrpSpPr>
        <p:cNvPr id="1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16"/>
          <p:cNvSpPr txBox="1"/>
          <p:nvPr/>
        </p:nvSpPr>
        <p:spPr>
          <a:xfrm>
            <a:off x="0" y="4867500"/>
            <a:ext cx="308700" cy="27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fld id="{00000000-1234-1234-1234-123412341234}" type="slidenum">
              <a:rPr lang="en" sz="800" b="0" i="0" u="none" strike="noStrike" cap="none">
                <a:solidFill>
                  <a:srgbClr val="3D3C3B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rPr>
              <a:t>‹#›</a:t>
            </a:fld>
            <a:endParaRPr sz="800" b="0" i="0" u="none" strike="noStrike" cap="none">
              <a:solidFill>
                <a:srgbClr val="3D3C3B"/>
              </a:solidFill>
              <a:latin typeface="Helvetica Neue Light"/>
              <a:ea typeface="Helvetica Neue Light"/>
              <a:cs typeface="Helvetica Neue Light"/>
              <a:sym typeface="Helvetica Neue Light"/>
            </a:endParaRPr>
          </a:p>
        </p:txBody>
      </p:sp>
      <p:pic>
        <p:nvPicPr>
          <p:cNvPr id="64" name="Google Shape;64;p16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7843147" y="4663225"/>
            <a:ext cx="1010976" cy="307800"/>
          </a:xfrm>
          <a:prstGeom prst="rect">
            <a:avLst/>
          </a:prstGeom>
          <a:noFill/>
          <a:ln>
            <a:noFill/>
          </a:ln>
        </p:spPr>
      </p:pic>
      <p:pic>
        <p:nvPicPr>
          <p:cNvPr id="65" name="Google Shape;65;p16"/>
          <p:cNvPicPr preferRelativeResize="0"/>
          <p:nvPr/>
        </p:nvPicPr>
        <p:blipFill rotWithShape="1">
          <a:blip r:embed="rId3">
            <a:alphaModFix amt="6000"/>
          </a:blip>
          <a:srcRect/>
          <a:stretch/>
        </p:blipFill>
        <p:spPr>
          <a:xfrm>
            <a:off x="3378625" y="2347025"/>
            <a:ext cx="5765376" cy="2796476"/>
          </a:xfrm>
          <a:prstGeom prst="rect">
            <a:avLst/>
          </a:prstGeom>
          <a:noFill/>
          <a:ln>
            <a:noFill/>
          </a:ln>
        </p:spPr>
      </p:pic>
      <p:sp>
        <p:nvSpPr>
          <p:cNvPr id="66" name="Google Shape;66;p16"/>
          <p:cNvSpPr txBox="1">
            <a:spLocks noGrp="1"/>
          </p:cNvSpPr>
          <p:nvPr>
            <p:ph type="title"/>
          </p:nvPr>
        </p:nvSpPr>
        <p:spPr>
          <a:xfrm>
            <a:off x="308977" y="229100"/>
            <a:ext cx="6783900" cy="48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0000" tIns="90000" rIns="91425" bIns="90000" anchor="t" anchorCtr="0">
            <a:noAutofit/>
          </a:bodyPr>
          <a:lstStyle>
            <a:lvl1pPr marR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01C7F"/>
              </a:buClr>
              <a:buSzPts val="2200"/>
              <a:buNone/>
              <a:defRPr sz="2200" i="0" u="none" strike="noStrike" cap="none">
                <a:solidFill>
                  <a:srgbClr val="701C7F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oboto"/>
              <a:buNone/>
              <a:defRPr sz="2400" b="1">
                <a:latin typeface="Roboto"/>
                <a:ea typeface="Roboto"/>
                <a:cs typeface="Roboto"/>
                <a:sym typeface="Roboto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oboto"/>
              <a:buNone/>
              <a:defRPr sz="2400" b="1">
                <a:latin typeface="Roboto"/>
                <a:ea typeface="Roboto"/>
                <a:cs typeface="Roboto"/>
                <a:sym typeface="Roboto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oboto"/>
              <a:buNone/>
              <a:defRPr sz="2400" b="1">
                <a:latin typeface="Roboto"/>
                <a:ea typeface="Roboto"/>
                <a:cs typeface="Roboto"/>
                <a:sym typeface="Roboto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oboto"/>
              <a:buNone/>
              <a:defRPr sz="2400" b="1">
                <a:latin typeface="Roboto"/>
                <a:ea typeface="Roboto"/>
                <a:cs typeface="Roboto"/>
                <a:sym typeface="Roboto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oboto"/>
              <a:buNone/>
              <a:defRPr sz="2400" b="1">
                <a:latin typeface="Roboto"/>
                <a:ea typeface="Roboto"/>
                <a:cs typeface="Roboto"/>
                <a:sym typeface="Roboto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oboto"/>
              <a:buNone/>
              <a:defRPr sz="2400" b="1">
                <a:latin typeface="Roboto"/>
                <a:ea typeface="Roboto"/>
                <a:cs typeface="Roboto"/>
                <a:sym typeface="Roboto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oboto"/>
              <a:buNone/>
              <a:defRPr sz="2400" b="1">
                <a:latin typeface="Roboto"/>
                <a:ea typeface="Roboto"/>
                <a:cs typeface="Roboto"/>
                <a:sym typeface="Roboto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oboto"/>
              <a:buNone/>
              <a:defRPr sz="2400" b="1"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endParaRPr/>
          </a:p>
        </p:txBody>
      </p:sp>
      <p:sp>
        <p:nvSpPr>
          <p:cNvPr id="67" name="Google Shape;67;p16"/>
          <p:cNvSpPr txBox="1"/>
          <p:nvPr/>
        </p:nvSpPr>
        <p:spPr>
          <a:xfrm>
            <a:off x="0" y="4810400"/>
            <a:ext cx="9144000" cy="292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r>
              <a:rPr lang="en" sz="700" b="0" i="0" u="none" strike="noStrike" cap="none">
                <a:solidFill>
                  <a:srgbClr val="999999"/>
                </a:solidFill>
                <a:latin typeface="Roboto"/>
                <a:ea typeface="Roboto"/>
                <a:cs typeface="Roboto"/>
                <a:sym typeface="Roboto"/>
              </a:rPr>
              <a:t>COPYRIGHT (C) 2025, ECLIPSE FOUNDATION</a:t>
            </a:r>
            <a:endParaRPr sz="700" b="0" i="0" u="none" strike="noStrike" cap="none">
              <a:solidFill>
                <a:srgbClr val="999999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7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70" name="Google Shape;70;p17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71" name="Google Shape;71;p1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18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74" name="Google Shape;74;p1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Google Shape;76;p19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77" name="Google Shape;77;p19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78" name="Google Shape;78;p19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79" name="Google Shape;79;p1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20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82" name="Google Shape;82;p2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21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85" name="Google Shape;85;p21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86" name="Google Shape;86;p2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22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89" name="Google Shape;89;p2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23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2" name="Google Shape;92;p23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93" name="Google Shape;93;p23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94" name="Google Shape;94;p23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429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95" name="Google Shape;95;p2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p24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>
            <a:endParaRPr/>
          </a:p>
        </p:txBody>
      </p:sp>
      <p:sp>
        <p:nvSpPr>
          <p:cNvPr id="98" name="Google Shape;98;p2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Google Shape;100;p25"/>
          <p:cNvSpPr txBox="1"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101" name="Google Shape;101;p25"/>
          <p:cNvSpPr txBox="1">
            <a:spLocks noGrp="1"/>
          </p:cNvSpPr>
          <p:nvPr>
            <p:ph type="body" idx="1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02" name="Google Shape;102;p2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2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 1">
  <p:cSld name="ONE_COLUMN_TEXT_1">
    <p:spTree>
      <p:nvGrpSpPr>
        <p:cNvPr id="1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p2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107" name="Google Shape;107;p27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2774125" y="0"/>
            <a:ext cx="6369875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08" name="Google Shape;108;p27"/>
          <p:cNvSpPr txBox="1"/>
          <p:nvPr/>
        </p:nvSpPr>
        <p:spPr>
          <a:xfrm>
            <a:off x="3321725" y="347950"/>
            <a:ext cx="54213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endParaRPr sz="1200" b="1" i="0" u="none" strike="noStrike" cap="none">
              <a:solidFill>
                <a:srgbClr val="FFFFFF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9" name="Google Shape;109;p27"/>
          <p:cNvSpPr txBox="1"/>
          <p:nvPr/>
        </p:nvSpPr>
        <p:spPr>
          <a:xfrm>
            <a:off x="3321725" y="1236181"/>
            <a:ext cx="5421300" cy="33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endParaRPr sz="1000" b="0" i="0" u="none" strike="noStrike" cap="none">
              <a:solidFill>
                <a:srgbClr val="FFFFFF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0" name="Google Shape;110;p27"/>
          <p:cNvSpPr txBox="1"/>
          <p:nvPr/>
        </p:nvSpPr>
        <p:spPr>
          <a:xfrm>
            <a:off x="3321725" y="2124413"/>
            <a:ext cx="56370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endParaRPr sz="1200" b="1" i="0" u="none" strike="noStrike" cap="none">
              <a:solidFill>
                <a:srgbClr val="FFFFFF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1" name="Google Shape;111;p27"/>
          <p:cNvSpPr txBox="1"/>
          <p:nvPr/>
        </p:nvSpPr>
        <p:spPr>
          <a:xfrm>
            <a:off x="3321725" y="3012644"/>
            <a:ext cx="54213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endParaRPr sz="1200" b="1" i="0" u="none" strike="noStrike" cap="none">
              <a:solidFill>
                <a:srgbClr val="FFFFFF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2" name="Google Shape;112;p27"/>
          <p:cNvSpPr txBox="1"/>
          <p:nvPr/>
        </p:nvSpPr>
        <p:spPr>
          <a:xfrm>
            <a:off x="3321725" y="3900875"/>
            <a:ext cx="54213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endParaRPr sz="1200" b="1" i="0" u="none" strike="noStrike" cap="none">
              <a:solidFill>
                <a:srgbClr val="FFFFFF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3" name="Google Shape;113;p27"/>
          <p:cNvSpPr txBox="1"/>
          <p:nvPr/>
        </p:nvSpPr>
        <p:spPr>
          <a:xfrm>
            <a:off x="0" y="4760400"/>
            <a:ext cx="9144000" cy="38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</a:pPr>
            <a:r>
              <a:rPr lang="en" sz="600" b="0" i="0" u="none" strike="noStrike" cap="none">
                <a:solidFill>
                  <a:srgbClr val="AEABAB"/>
                </a:solidFill>
                <a:latin typeface="Roboto"/>
                <a:ea typeface="Roboto"/>
                <a:cs typeface="Roboto"/>
                <a:sym typeface="Roboto"/>
              </a:rPr>
              <a:t>COPYRIGHT (C) 2025, ECLIPSE FOUNDATION. | THIS WORK IS LICENSED UNDER A CREATIVE COMMONS ATTRIBUTION 4.0 INTERNATIONAL LICENSE (CC BY 4.0)</a:t>
            </a:r>
            <a:endParaRPr sz="600" b="0" i="0" u="none" strike="noStrike" cap="none">
              <a:solidFill>
                <a:srgbClr val="AEABAB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marR="0" lvl="0" indent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</a:pPr>
            <a:endParaRPr sz="600" b="0" i="0" u="none" strike="noStrike" cap="none">
              <a:solidFill>
                <a:srgbClr val="AEABAB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4" name="Google Shape;114;p27"/>
          <p:cNvSpPr txBox="1"/>
          <p:nvPr/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 sz="1000" b="0" i="0" u="none" strike="noStrike" cap="none">
                <a:solidFill>
                  <a:srgbClr val="595959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1000" b="0" i="0" u="none" strike="noStrike" cap="none">
              <a:solidFill>
                <a:srgbClr val="595959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15" name="Google Shape;115;p27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7657550" y="4664025"/>
            <a:ext cx="1038973" cy="316325"/>
          </a:xfrm>
          <a:prstGeom prst="rect">
            <a:avLst/>
          </a:prstGeom>
          <a:noFill/>
          <a:ln>
            <a:noFill/>
          </a:ln>
        </p:spPr>
      </p:pic>
      <p:sp>
        <p:nvSpPr>
          <p:cNvPr id="116" name="Google Shape;116;p27"/>
          <p:cNvSpPr txBox="1"/>
          <p:nvPr/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 sz="1000" b="0" i="0" u="none" strike="noStrike" cap="none">
                <a:solidFill>
                  <a:srgbClr val="595959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1000" b="0" i="0" u="none" strike="noStrike" cap="none">
              <a:solidFill>
                <a:srgbClr val="595959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 1">
  <p:cSld name="TITLE_AND_BODY_1">
    <p:spTree>
      <p:nvGrpSpPr>
        <p:cNvPr id="1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8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19" name="Google Shape;119;p2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120" name="Google Shape;120;p28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7843147" y="4663225"/>
            <a:ext cx="1010976" cy="3078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1" name="Google Shape;121;p28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311700" y="1152475"/>
            <a:ext cx="8551898" cy="3416401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8"/>
          <p:cNvSpPr txBox="1"/>
          <p:nvPr/>
        </p:nvSpPr>
        <p:spPr>
          <a:xfrm>
            <a:off x="0" y="4810400"/>
            <a:ext cx="9144000" cy="292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r>
              <a:rPr lang="en" sz="700" b="0" i="0" u="none" strike="noStrike" cap="none">
                <a:solidFill>
                  <a:srgbClr val="9E9E9E"/>
                </a:solidFill>
                <a:latin typeface="Roboto"/>
                <a:ea typeface="Roboto"/>
                <a:cs typeface="Roboto"/>
                <a:sym typeface="Roboto"/>
              </a:rPr>
              <a:t>COPYRIGHT (C) 2025, ECLIPSE FOUNDATION</a:t>
            </a:r>
            <a:endParaRPr sz="700" b="0" i="0" u="none" strike="noStrike" cap="none">
              <a:solidFill>
                <a:srgbClr val="9E9E9E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 1 1">
  <p:cSld name="TITLE_AND_BODY_2">
    <p:spTree>
      <p:nvGrpSpPr>
        <p:cNvPr id="1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Google Shape;124;p29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25" name="Google Shape;125;p29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26" name="Google Shape;126;p2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 1">
  <p:cSld name="CAPTION_ONLY_1">
    <p:spTree>
      <p:nvGrpSpPr>
        <p:cNvPr id="1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3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129" name="Google Shape;129;p30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-107650" y="-157900"/>
            <a:ext cx="9251650" cy="5301399"/>
          </a:xfrm>
          <a:prstGeom prst="rect">
            <a:avLst/>
          </a:prstGeom>
          <a:noFill/>
          <a:ln>
            <a:noFill/>
          </a:ln>
        </p:spPr>
      </p:pic>
      <p:sp>
        <p:nvSpPr>
          <p:cNvPr id="130" name="Google Shape;130;p30"/>
          <p:cNvSpPr txBox="1"/>
          <p:nvPr/>
        </p:nvSpPr>
        <p:spPr>
          <a:xfrm>
            <a:off x="8464552" y="4652357"/>
            <a:ext cx="555300" cy="40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 sz="1000" b="0" i="0" u="none" strike="noStrike" cap="none">
                <a:solidFill>
                  <a:srgbClr val="595959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1000" b="0" i="0" u="none" strike="noStrike" cap="none">
              <a:solidFill>
                <a:srgbClr val="595959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1" name="Google Shape;131;p30"/>
          <p:cNvSpPr txBox="1"/>
          <p:nvPr/>
        </p:nvSpPr>
        <p:spPr>
          <a:xfrm>
            <a:off x="8464552" y="4652357"/>
            <a:ext cx="555300" cy="40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 sz="1000" b="0" i="0" u="none" strike="noStrike" cap="none">
                <a:solidFill>
                  <a:srgbClr val="595959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1000" b="0" i="0" u="none" strike="noStrike" cap="none">
              <a:solidFill>
                <a:srgbClr val="595959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2" name="Google Shape;132;p30"/>
          <p:cNvSpPr txBox="1"/>
          <p:nvPr/>
        </p:nvSpPr>
        <p:spPr>
          <a:xfrm>
            <a:off x="0" y="4810400"/>
            <a:ext cx="9144000" cy="292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r>
              <a:rPr lang="en" sz="7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COPYRIGHT (C) 2025, ECLIPSE FOUNDATION</a:t>
            </a:r>
            <a:endParaRPr sz="700" b="0" i="0" u="none" strike="noStrike" cap="none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20.xml"/><Relationship Id="rId13" Type="http://schemas.openxmlformats.org/officeDocument/2006/relationships/slideLayout" Target="../slideLayouts/slideLayout25.xml"/><Relationship Id="rId3" Type="http://schemas.openxmlformats.org/officeDocument/2006/relationships/slideLayout" Target="../slideLayouts/slideLayout15.xml"/><Relationship Id="rId7" Type="http://schemas.openxmlformats.org/officeDocument/2006/relationships/slideLayout" Target="../slideLayouts/slideLayout19.xml"/><Relationship Id="rId12" Type="http://schemas.openxmlformats.org/officeDocument/2006/relationships/slideLayout" Target="../slideLayouts/slideLayout24.xml"/><Relationship Id="rId17" Type="http://schemas.openxmlformats.org/officeDocument/2006/relationships/theme" Target="../theme/theme2.xml"/><Relationship Id="rId2" Type="http://schemas.openxmlformats.org/officeDocument/2006/relationships/slideLayout" Target="../slideLayouts/slideLayout14.xml"/><Relationship Id="rId16" Type="http://schemas.openxmlformats.org/officeDocument/2006/relationships/slideLayout" Target="../slideLayouts/slideLayout28.xml"/><Relationship Id="rId1" Type="http://schemas.openxmlformats.org/officeDocument/2006/relationships/slideLayout" Target="../slideLayouts/slideLayout13.xml"/><Relationship Id="rId6" Type="http://schemas.openxmlformats.org/officeDocument/2006/relationships/slideLayout" Target="../slideLayouts/slideLayout18.xml"/><Relationship Id="rId11" Type="http://schemas.openxmlformats.org/officeDocument/2006/relationships/slideLayout" Target="../slideLayouts/slideLayout23.xml"/><Relationship Id="rId5" Type="http://schemas.openxmlformats.org/officeDocument/2006/relationships/slideLayout" Target="../slideLayouts/slideLayout17.xml"/><Relationship Id="rId15" Type="http://schemas.openxmlformats.org/officeDocument/2006/relationships/slideLayout" Target="../slideLayouts/slideLayout27.xml"/><Relationship Id="rId10" Type="http://schemas.openxmlformats.org/officeDocument/2006/relationships/slideLayout" Target="../slideLayouts/slideLayout22.xml"/><Relationship Id="rId4" Type="http://schemas.openxmlformats.org/officeDocument/2006/relationships/slideLayout" Target="../slideLayouts/slideLayout16.xml"/><Relationship Id="rId9" Type="http://schemas.openxmlformats.org/officeDocument/2006/relationships/slideLayout" Target="../slideLayouts/slideLayout21.xml"/><Relationship Id="rId14" Type="http://schemas.openxmlformats.org/officeDocument/2006/relationships/slideLayout" Target="../slideLayouts/slideLayout26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marL="914400" lvl="1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marL="1371600" lvl="2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marL="1828800" lvl="3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marL="2286000" lvl="4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marL="2743200" lvl="5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marL="3200400" lvl="6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marL="3657600" lvl="7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marL="4114800" lvl="8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DFDA197-F0DD-17CF-568C-47125ABFCEA2}"/>
              </a:ext>
            </a:extLst>
          </p:cNvPr>
          <p:cNvSpPr txBox="1"/>
          <p:nvPr userDrawn="1">
            <p:extLst>
              <p:ext uri="{1162E1C5-73C7-4A58-AE30-91384D911F3F}">
                <p184:classification xmlns:p184="http://schemas.microsoft.com/office/powerpoint/2018/4/main" val="ftr"/>
              </p:ext>
            </p:extLst>
          </p:nvPr>
        </p:nvSpPr>
        <p:spPr>
          <a:xfrm>
            <a:off x="152400" y="4853940"/>
            <a:ext cx="596900" cy="137160"/>
          </a:xfrm>
          <a:prstGeom prst="rect">
            <a:avLst/>
          </a:prstGeom>
        </p:spPr>
        <p:txBody>
          <a:bodyPr horzOverflow="overflow" lIns="0" tIns="0" rIns="0" bIns="0">
            <a:spAutoFit/>
          </a:bodyPr>
          <a:lstStyle/>
          <a:p>
            <a:pPr algn="l"/>
            <a:r>
              <a:rPr lang="en-PT" sz="900">
                <a:solidFill>
                  <a:srgbClr val="91B900">
                    <a:alpha val="50000"/>
                  </a:srgb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INTERNAL</a:t>
            </a: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1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R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56" name="Google Shape;56;p14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marR="0" lvl="0" indent="-3429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57" name="Google Shape;57;p1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04E5378-3F40-EECF-CE04-11ECD8210612}"/>
              </a:ext>
            </a:extLst>
          </p:cNvPr>
          <p:cNvSpPr txBox="1"/>
          <p:nvPr userDrawn="1">
            <p:extLst>
              <p:ext uri="{1162E1C5-73C7-4A58-AE30-91384D911F3F}">
                <p184:classification xmlns:p184="http://schemas.microsoft.com/office/powerpoint/2018/4/main" val="ftr"/>
              </p:ext>
            </p:extLst>
          </p:nvPr>
        </p:nvSpPr>
        <p:spPr>
          <a:xfrm>
            <a:off x="152400" y="4853940"/>
            <a:ext cx="596900" cy="137160"/>
          </a:xfrm>
          <a:prstGeom prst="rect">
            <a:avLst/>
          </a:prstGeom>
        </p:spPr>
        <p:txBody>
          <a:bodyPr horzOverflow="overflow" lIns="0" tIns="0" rIns="0" bIns="0">
            <a:spAutoFit/>
          </a:bodyPr>
          <a:lstStyle/>
          <a:p>
            <a:pPr algn="l"/>
            <a:r>
              <a:rPr lang="en-PT" sz="900">
                <a:solidFill>
                  <a:srgbClr val="91B900">
                    <a:alpha val="50000"/>
                  </a:srgb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INTERNAL</a:t>
            </a: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60" r:id="rId1"/>
    <p:sldLayoutId id="2147483661" r:id="rId2"/>
    <p:sldLayoutId id="2147483662" r:id="rId3"/>
    <p:sldLayoutId id="2147483663" r:id="rId4"/>
    <p:sldLayoutId id="2147483664" r:id="rId5"/>
    <p:sldLayoutId id="2147483665" r:id="rId6"/>
    <p:sldLayoutId id="2147483666" r:id="rId7"/>
    <p:sldLayoutId id="2147483667" r:id="rId8"/>
    <p:sldLayoutId id="2147483668" r:id="rId9"/>
    <p:sldLayoutId id="2147483669" r:id="rId10"/>
    <p:sldLayoutId id="2147483670" r:id="rId11"/>
    <p:sldLayoutId id="2147483671" r:id="rId12"/>
    <p:sldLayoutId id="2147483672" r:id="rId13"/>
    <p:sldLayoutId id="2147483673" r:id="rId14"/>
    <p:sldLayoutId id="2147483674" r:id="rId15"/>
    <p:sldLayoutId id="2147483675" r:id="rId16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7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7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4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4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4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4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4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4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4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7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7" name="Google Shape;137;p31" title="2025_SDV_Hackathon_Zoombg_v1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38" name="Google Shape;138;p31"/>
          <p:cNvGrpSpPr/>
          <p:nvPr/>
        </p:nvGrpSpPr>
        <p:grpSpPr>
          <a:xfrm>
            <a:off x="0" y="4044950"/>
            <a:ext cx="9144000" cy="1057950"/>
            <a:chOff x="0" y="4044950"/>
            <a:chExt cx="9144000" cy="1057950"/>
          </a:xfrm>
        </p:grpSpPr>
        <p:pic>
          <p:nvPicPr>
            <p:cNvPr id="139" name="Google Shape;139;p31"/>
            <p:cNvPicPr preferRelativeResize="0"/>
            <p:nvPr/>
          </p:nvPicPr>
          <p:blipFill rotWithShape="1">
            <a:blip r:embed="rId4">
              <a:alphaModFix/>
            </a:blip>
            <a:srcRect/>
            <a:stretch/>
          </p:blipFill>
          <p:spPr>
            <a:xfrm>
              <a:off x="268625" y="4044950"/>
              <a:ext cx="1634028" cy="568075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140" name="Google Shape;140;p31"/>
            <p:cNvSpPr txBox="1"/>
            <p:nvPr/>
          </p:nvSpPr>
          <p:spPr>
            <a:xfrm>
              <a:off x="0" y="4810400"/>
              <a:ext cx="9144000" cy="292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700"/>
                <a:buFont typeface="Arial"/>
                <a:buNone/>
              </a:pPr>
              <a:r>
                <a:rPr lang="en" sz="700" b="0" i="0" u="none" strike="noStrike" cap="none">
                  <a:solidFill>
                    <a:schemeClr val="lt1"/>
                  </a:solidFill>
                  <a:latin typeface="Roboto"/>
                  <a:ea typeface="Roboto"/>
                  <a:cs typeface="Roboto"/>
                  <a:sym typeface="Roboto"/>
                </a:rPr>
                <a:t>COPYRIGHT (C) 2025, ECLIPSE FOUNDATION</a:t>
              </a:r>
              <a:endParaRPr sz="7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sp>
        <p:nvSpPr>
          <p:cNvPr id="141" name="Google Shape;141;p31"/>
          <p:cNvSpPr txBox="1"/>
          <p:nvPr/>
        </p:nvSpPr>
        <p:spPr>
          <a:xfrm>
            <a:off x="1924100" y="1148600"/>
            <a:ext cx="7612800" cy="203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000"/>
              <a:buFont typeface="Arial"/>
              <a:buNone/>
            </a:pPr>
            <a:r>
              <a:rPr lang="en" sz="4000" b="0" i="0" u="none" strike="noStrike" cap="none">
                <a:solidFill>
                  <a:srgbClr val="EE0C90"/>
                </a:solidFill>
                <a:latin typeface="Audiowide"/>
                <a:ea typeface="Audiowide"/>
                <a:cs typeface="Audiowide"/>
                <a:sym typeface="Audiowide"/>
              </a:rPr>
              <a:t>Chapter III - 2025</a:t>
            </a:r>
            <a:endParaRPr sz="4000" b="0" i="0" u="none" strike="noStrike" cap="none">
              <a:solidFill>
                <a:srgbClr val="EE0C90"/>
              </a:solidFill>
              <a:latin typeface="Audiowide"/>
              <a:ea typeface="Audiowide"/>
              <a:cs typeface="Audiowide"/>
              <a:sym typeface="Audiowide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6" name="Google Shape;146;p32" title="2025_SDV_Hackathon_Zoombg_v1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47" name="Google Shape;147;p32"/>
          <p:cNvGrpSpPr/>
          <p:nvPr/>
        </p:nvGrpSpPr>
        <p:grpSpPr>
          <a:xfrm>
            <a:off x="0" y="4044950"/>
            <a:ext cx="9144000" cy="1057950"/>
            <a:chOff x="0" y="4044950"/>
            <a:chExt cx="9144000" cy="1057950"/>
          </a:xfrm>
        </p:grpSpPr>
        <p:pic>
          <p:nvPicPr>
            <p:cNvPr id="148" name="Google Shape;148;p32"/>
            <p:cNvPicPr preferRelativeResize="0"/>
            <p:nvPr/>
          </p:nvPicPr>
          <p:blipFill rotWithShape="1">
            <a:blip r:embed="rId4">
              <a:alphaModFix/>
            </a:blip>
            <a:srcRect/>
            <a:stretch/>
          </p:blipFill>
          <p:spPr>
            <a:xfrm>
              <a:off x="268625" y="4044950"/>
              <a:ext cx="1634028" cy="568075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149" name="Google Shape;149;p32"/>
            <p:cNvSpPr txBox="1"/>
            <p:nvPr/>
          </p:nvSpPr>
          <p:spPr>
            <a:xfrm>
              <a:off x="0" y="4810400"/>
              <a:ext cx="9144000" cy="292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700"/>
                <a:buFont typeface="Arial"/>
                <a:buNone/>
              </a:pPr>
              <a:r>
                <a:rPr lang="en" sz="700" b="0" i="0" u="none" strike="noStrike" cap="none">
                  <a:solidFill>
                    <a:schemeClr val="lt1"/>
                  </a:solidFill>
                  <a:latin typeface="Roboto"/>
                  <a:ea typeface="Roboto"/>
                  <a:cs typeface="Roboto"/>
                  <a:sym typeface="Roboto"/>
                </a:rPr>
                <a:t>COPYRIGHT (C) 2025, ECLIPSE FOUNDATION</a:t>
              </a:r>
              <a:endParaRPr sz="7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sp>
        <p:nvSpPr>
          <p:cNvPr id="150" name="Google Shape;150;p32"/>
          <p:cNvSpPr txBox="1"/>
          <p:nvPr/>
        </p:nvSpPr>
        <p:spPr>
          <a:xfrm>
            <a:off x="0" y="2225775"/>
            <a:ext cx="9144000" cy="203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ctr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4000" dirty="0">
                <a:solidFill>
                  <a:schemeClr val="lt1"/>
                </a:solidFill>
                <a:latin typeface="Audiowide"/>
                <a:ea typeface="Audiowide"/>
                <a:cs typeface="Audiowide"/>
                <a:sym typeface="Audiowide"/>
              </a:rPr>
              <a:t>PITCHING SESSION</a:t>
            </a:r>
            <a:br>
              <a:rPr lang="en" sz="4000" dirty="0">
                <a:solidFill>
                  <a:schemeClr val="lt1"/>
                </a:solidFill>
                <a:latin typeface="Audiowide"/>
                <a:ea typeface="Audiowide"/>
                <a:cs typeface="Audiowide"/>
                <a:sym typeface="Audiowide"/>
              </a:rPr>
            </a:br>
            <a:r>
              <a:rPr lang="en" sz="4000" i="1" dirty="0" err="1">
                <a:solidFill>
                  <a:schemeClr val="lt1"/>
                </a:solidFill>
                <a:latin typeface="Audiowide"/>
                <a:ea typeface="Audiowide"/>
                <a:cs typeface="Audiowide"/>
                <a:sym typeface="Audiowide"/>
              </a:rPr>
              <a:t>TheBigRanch</a:t>
            </a:r>
            <a:endParaRPr sz="4000" b="0" i="1" u="none" strike="noStrike" cap="none" dirty="0">
              <a:solidFill>
                <a:schemeClr val="lt1"/>
              </a:solidFill>
              <a:latin typeface="Audiowide"/>
              <a:ea typeface="Audiowide"/>
              <a:cs typeface="Audiowide"/>
              <a:sym typeface="Audiowide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5" name="Google Shape;155;p33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 rot="-8" flipH="1">
            <a:off x="0" y="159426"/>
            <a:ext cx="1262074" cy="612173"/>
          </a:xfrm>
          <a:prstGeom prst="rect">
            <a:avLst/>
          </a:prstGeom>
          <a:noFill/>
          <a:ln>
            <a:noFill/>
          </a:ln>
        </p:spPr>
      </p:pic>
      <p:sp>
        <p:nvSpPr>
          <p:cNvPr id="156" name="Google Shape;156;p33"/>
          <p:cNvSpPr txBox="1">
            <a:spLocks noGrp="1"/>
          </p:cNvSpPr>
          <p:nvPr>
            <p:ph type="title"/>
          </p:nvPr>
        </p:nvSpPr>
        <p:spPr>
          <a:xfrm>
            <a:off x="1262077" y="282000"/>
            <a:ext cx="6783900" cy="48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0000" tIns="90000" rIns="91425" bIns="900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lang="en" sz="3000" dirty="0">
                <a:solidFill>
                  <a:schemeClr val="dk1"/>
                </a:solidFill>
              </a:rPr>
              <a:t>The Plan</a:t>
            </a:r>
            <a:endParaRPr sz="800" dirty="0">
              <a:latin typeface="Audiowide"/>
              <a:ea typeface="Audiowide"/>
              <a:cs typeface="Audiowide"/>
              <a:sym typeface="Audiowide"/>
            </a:endParaRPr>
          </a:p>
        </p:txBody>
      </p:sp>
      <p:sp>
        <p:nvSpPr>
          <p:cNvPr id="157" name="Google Shape;157;p33"/>
          <p:cNvSpPr txBox="1"/>
          <p:nvPr/>
        </p:nvSpPr>
        <p:spPr>
          <a:xfrm>
            <a:off x="657750" y="1132650"/>
            <a:ext cx="7686900" cy="3200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GB" sz="1600" b="1" dirty="0"/>
              <a:t>Initial Situation</a:t>
            </a:r>
            <a:br>
              <a:rPr lang="en-GB" sz="1600" dirty="0"/>
            </a:br>
            <a:r>
              <a:rPr lang="en-GB" sz="1600" dirty="0"/>
              <a:t>Road conditions are often unknown until they cause damage or accidents. Traditional reporting is manual, slow, and incomplete.</a:t>
            </a:r>
          </a:p>
          <a:p>
            <a:r>
              <a:rPr lang="en-GB" sz="1600" b="1" dirty="0"/>
              <a:t>Our Solution</a:t>
            </a:r>
            <a:br>
              <a:rPr lang="en-GB" sz="1600" dirty="0"/>
            </a:br>
            <a:r>
              <a:rPr lang="en-GB" sz="1600" dirty="0"/>
              <a:t>We built an AI-driven pothole detector that uses vehicle sensors to automatically detect, classify, and share pothole events in real time.</a:t>
            </a:r>
          </a:p>
          <a:p>
            <a:r>
              <a:rPr lang="en-GB" sz="1600" b="1" dirty="0"/>
              <a:t>Our Idea</a:t>
            </a:r>
            <a:br>
              <a:rPr lang="en-GB" sz="1600" dirty="0"/>
            </a:br>
            <a:r>
              <a:rPr lang="en-GB" sz="1600" dirty="0"/>
              <a:t>Leverage existing IMU and GPS data from cars to spot sudden bumps, translate them into pothole alerts, and map them for all users.</a:t>
            </a:r>
          </a:p>
          <a:p>
            <a:r>
              <a:rPr lang="en-GB" sz="1600" b="1" dirty="0"/>
              <a:t>Our Plan</a:t>
            </a:r>
            <a:br>
              <a:rPr lang="en-GB" sz="1600" dirty="0"/>
            </a:br>
            <a:r>
              <a:rPr lang="en-GB" sz="1600" dirty="0"/>
              <a:t>Simulate and validate detection logic, connect to CARLA via </a:t>
            </a:r>
            <a:r>
              <a:rPr lang="en-GB" sz="1600" dirty="0" err="1"/>
              <a:t>Zenoh</a:t>
            </a:r>
            <a:r>
              <a:rPr lang="en-GB" sz="1600" dirty="0"/>
              <a:t> for real data, and deliver live alerts and aggregated pothole maps.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2" name="Google Shape;162;p34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 rot="-8" flipH="1">
            <a:off x="0" y="159426"/>
            <a:ext cx="1262074" cy="612173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34"/>
          <p:cNvSpPr txBox="1">
            <a:spLocks noGrp="1"/>
          </p:cNvSpPr>
          <p:nvPr>
            <p:ph type="title"/>
          </p:nvPr>
        </p:nvSpPr>
        <p:spPr>
          <a:xfrm>
            <a:off x="1262077" y="282000"/>
            <a:ext cx="6783900" cy="48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0000" tIns="90000" rIns="91425" bIns="900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lang="en" sz="3000">
                <a:solidFill>
                  <a:schemeClr val="dk1"/>
                </a:solidFill>
              </a:rPr>
              <a:t>Team and Structure</a:t>
            </a:r>
            <a:endParaRPr sz="800">
              <a:latin typeface="Audiowide"/>
              <a:ea typeface="Audiowide"/>
              <a:cs typeface="Audiowide"/>
              <a:sym typeface="Audiowide"/>
            </a:endParaRPr>
          </a:p>
        </p:txBody>
      </p:sp>
      <p:sp>
        <p:nvSpPr>
          <p:cNvPr id="164" name="Google Shape;164;p34"/>
          <p:cNvSpPr txBox="1"/>
          <p:nvPr/>
        </p:nvSpPr>
        <p:spPr>
          <a:xfrm>
            <a:off x="657750" y="1132650"/>
            <a:ext cx="7686900" cy="3200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270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Arial"/>
              <a:buNone/>
            </a:pPr>
            <a:r>
              <a:rPr lang="pt-PT" sz="1800" i="1" dirty="0" err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We</a:t>
            </a:r>
            <a:r>
              <a:rPr lang="pt-PT" sz="1800" i="1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 are 4 </a:t>
            </a:r>
            <a:r>
              <a:rPr lang="pt-PT" sz="1800" i="1" dirty="0" err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developers</a:t>
            </a:r>
            <a:r>
              <a:rPr lang="pt-PT" sz="1800" i="1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:</a:t>
            </a:r>
          </a:p>
          <a:p>
            <a:pPr marL="298450" lvl="0" indent="-2857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Tx/>
              <a:buChar char="-"/>
            </a:pPr>
            <a:r>
              <a:rPr lang="pt-PT" sz="1800" i="1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Rodrigo Oliveira</a:t>
            </a:r>
          </a:p>
          <a:p>
            <a:pPr marL="298450" lvl="0" indent="-2857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Tx/>
              <a:buChar char="-"/>
            </a:pPr>
            <a:r>
              <a:rPr lang="pt-PT" sz="1800" i="1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Catarina Pereira</a:t>
            </a:r>
          </a:p>
          <a:p>
            <a:pPr marL="298450" lvl="0" indent="-2857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Tx/>
              <a:buChar char="-"/>
            </a:pPr>
            <a:r>
              <a:rPr lang="pt-PT" sz="1800" i="1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Guilherme Barros</a:t>
            </a:r>
          </a:p>
          <a:p>
            <a:pPr marL="298450" lvl="0" indent="-2857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Tx/>
              <a:buChar char="-"/>
            </a:pPr>
            <a:r>
              <a:rPr lang="pt-PT" sz="1800" i="1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Bruno de Sousa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 b="1" dirty="0">
              <a:solidFill>
                <a:schemeClr val="dk1"/>
              </a:solidFill>
              <a:highlight>
                <a:schemeClr val="lt1"/>
              </a:highlight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9" name="Google Shape;169;p35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 rot="-8" flipH="1">
            <a:off x="0" y="159426"/>
            <a:ext cx="1262074" cy="612173"/>
          </a:xfrm>
          <a:prstGeom prst="rect">
            <a:avLst/>
          </a:prstGeom>
          <a:noFill/>
          <a:ln>
            <a:noFill/>
          </a:ln>
        </p:spPr>
      </p:pic>
      <p:sp>
        <p:nvSpPr>
          <p:cNvPr id="170" name="Google Shape;170;p35"/>
          <p:cNvSpPr txBox="1">
            <a:spLocks noGrp="1"/>
          </p:cNvSpPr>
          <p:nvPr>
            <p:ph type="title"/>
          </p:nvPr>
        </p:nvSpPr>
        <p:spPr>
          <a:xfrm>
            <a:off x="1262077" y="282000"/>
            <a:ext cx="6783900" cy="48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0000" tIns="90000" rIns="91425" bIns="900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lang="en" sz="3000">
                <a:solidFill>
                  <a:schemeClr val="dk1"/>
                </a:solidFill>
              </a:rPr>
              <a:t>The Product / Service</a:t>
            </a:r>
            <a:endParaRPr sz="800">
              <a:latin typeface="Audiowide"/>
              <a:ea typeface="Audiowide"/>
              <a:cs typeface="Audiowide"/>
              <a:sym typeface="Audiowide"/>
            </a:endParaRPr>
          </a:p>
        </p:txBody>
      </p:sp>
      <p:sp>
        <p:nvSpPr>
          <p:cNvPr id="171" name="Google Shape;171;p35"/>
          <p:cNvSpPr txBox="1"/>
          <p:nvPr/>
        </p:nvSpPr>
        <p:spPr>
          <a:xfrm>
            <a:off x="657750" y="1132650"/>
            <a:ext cx="7686900" cy="3200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2700" lvl="0"/>
            <a:r>
              <a:rPr lang="en-GB" sz="1800" dirty="0"/>
              <a:t>Our solution leverages vehicle sensor data to automatically detect potholes in real time. By </a:t>
            </a:r>
            <a:r>
              <a:rPr lang="en-GB" sz="1800" dirty="0" err="1"/>
              <a:t>analyzing</a:t>
            </a:r>
            <a:r>
              <a:rPr lang="en-GB" sz="1800" dirty="0"/>
              <a:t> IMU and pose data, the system identifies sudden vertical accelerations and jerk patterns that signal road surface anomalies. </a:t>
            </a:r>
          </a:p>
          <a:p>
            <a:pPr marL="12700" lvl="0"/>
            <a:endParaRPr lang="en-GB" sz="1800" dirty="0"/>
          </a:p>
          <a:p>
            <a:pPr marL="12700" lvl="0"/>
            <a:r>
              <a:rPr lang="en-GB" sz="1800" dirty="0"/>
              <a:t>Detected events are classified by severity, geolocated, and published to </a:t>
            </a:r>
            <a:r>
              <a:rPr lang="en-GB" sz="1800" dirty="0" err="1"/>
              <a:t>Zenoh</a:t>
            </a:r>
            <a:r>
              <a:rPr lang="en-GB" sz="1800" dirty="0"/>
              <a:t> for live integration with in-vehicle alerts or central dashboards. </a:t>
            </a:r>
          </a:p>
          <a:p>
            <a:pPr marL="12700" lvl="0"/>
            <a:endParaRPr lang="en-GB" sz="1800" dirty="0"/>
          </a:p>
          <a:p>
            <a:pPr marL="12700" lvl="0"/>
            <a:r>
              <a:rPr lang="en-GB" sz="1800" dirty="0"/>
              <a:t>This enables a scalable, low-latency, and data-driven approach to improving road safety and infrastructure monitoring.</a:t>
            </a:r>
            <a:endParaRPr lang="en-GB" sz="1200" b="1" dirty="0">
              <a:solidFill>
                <a:schemeClr val="dk1"/>
              </a:solidFill>
              <a:highlight>
                <a:schemeClr val="lt1"/>
              </a:highlight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6" name="Google Shape;176;p3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 rot="-8" flipH="1">
            <a:off x="0" y="159426"/>
            <a:ext cx="1262074" cy="612173"/>
          </a:xfrm>
          <a:prstGeom prst="rect">
            <a:avLst/>
          </a:prstGeom>
          <a:noFill/>
          <a:ln>
            <a:noFill/>
          </a:ln>
        </p:spPr>
      </p:pic>
      <p:sp>
        <p:nvSpPr>
          <p:cNvPr id="177" name="Google Shape;177;p36"/>
          <p:cNvSpPr txBox="1">
            <a:spLocks noGrp="1"/>
          </p:cNvSpPr>
          <p:nvPr>
            <p:ph type="title"/>
          </p:nvPr>
        </p:nvSpPr>
        <p:spPr>
          <a:xfrm>
            <a:off x="1262077" y="282000"/>
            <a:ext cx="6783900" cy="48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0000" tIns="90000" rIns="91425" bIns="900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lang="en" sz="3000">
                <a:solidFill>
                  <a:schemeClr val="dk1"/>
                </a:solidFill>
              </a:rPr>
              <a:t>The Added Value</a:t>
            </a:r>
            <a:endParaRPr sz="800">
              <a:latin typeface="Audiowide"/>
              <a:ea typeface="Audiowide"/>
              <a:cs typeface="Audiowide"/>
              <a:sym typeface="Audiowide"/>
            </a:endParaRPr>
          </a:p>
        </p:txBody>
      </p:sp>
      <p:sp>
        <p:nvSpPr>
          <p:cNvPr id="178" name="Google Shape;178;p36"/>
          <p:cNvSpPr txBox="1"/>
          <p:nvPr/>
        </p:nvSpPr>
        <p:spPr>
          <a:xfrm>
            <a:off x="657750" y="1132650"/>
            <a:ext cx="7686900" cy="3200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270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 i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Explain what the </a:t>
            </a:r>
            <a:r>
              <a:rPr lang="en" sz="1800" b="1" i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Added Value</a:t>
            </a:r>
            <a:r>
              <a:rPr lang="en" sz="1800" i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 of your solution / product / service is.</a:t>
            </a:r>
            <a:endParaRPr sz="1800" i="1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1270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Arial"/>
              <a:buNone/>
            </a:pPr>
            <a:br>
              <a:rPr lang="en" sz="1800" i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</a:br>
            <a:r>
              <a:rPr lang="en" sz="1800" i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Explain why you think your solution is better than the other ones out there.</a:t>
            </a:r>
            <a:endParaRPr sz="1800" i="1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 b="1">
              <a:solidFill>
                <a:schemeClr val="dk1"/>
              </a:solidFill>
              <a:highlight>
                <a:schemeClr val="lt1"/>
              </a:highlight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3" name="Google Shape;183;p37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 rot="-8" flipH="1">
            <a:off x="0" y="159426"/>
            <a:ext cx="1262074" cy="612173"/>
          </a:xfrm>
          <a:prstGeom prst="rect">
            <a:avLst/>
          </a:prstGeom>
          <a:noFill/>
          <a:ln>
            <a:noFill/>
          </a:ln>
        </p:spPr>
      </p:pic>
      <p:sp>
        <p:nvSpPr>
          <p:cNvPr id="184" name="Google Shape;184;p37"/>
          <p:cNvSpPr txBox="1">
            <a:spLocks noGrp="1"/>
          </p:cNvSpPr>
          <p:nvPr>
            <p:ph type="title"/>
          </p:nvPr>
        </p:nvSpPr>
        <p:spPr>
          <a:xfrm>
            <a:off x="1262077" y="282000"/>
            <a:ext cx="6783900" cy="48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0000" tIns="90000" rIns="91425" bIns="900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lang="en" sz="3000">
                <a:solidFill>
                  <a:schemeClr val="dk1"/>
                </a:solidFill>
              </a:rPr>
              <a:t>The Market &amp; The Competition</a:t>
            </a:r>
            <a:endParaRPr sz="800">
              <a:latin typeface="Audiowide"/>
              <a:ea typeface="Audiowide"/>
              <a:cs typeface="Audiowide"/>
              <a:sym typeface="Audiowide"/>
            </a:endParaRPr>
          </a:p>
        </p:txBody>
      </p:sp>
      <p:sp>
        <p:nvSpPr>
          <p:cNvPr id="185" name="Google Shape;185;p37"/>
          <p:cNvSpPr txBox="1"/>
          <p:nvPr/>
        </p:nvSpPr>
        <p:spPr>
          <a:xfrm>
            <a:off x="657750" y="1132650"/>
            <a:ext cx="7686900" cy="3200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270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 i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Make a case on the </a:t>
            </a:r>
            <a:r>
              <a:rPr lang="en" sz="1800" b="1" i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Market Potential</a:t>
            </a:r>
            <a:r>
              <a:rPr lang="en" sz="1800" i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 for a product / service like yours</a:t>
            </a:r>
            <a:br>
              <a:rPr lang="en" sz="1800" i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</a:br>
            <a:br>
              <a:rPr lang="en" sz="1800" i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</a:br>
            <a:r>
              <a:rPr lang="en" sz="1800" i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Enumerate your </a:t>
            </a:r>
            <a:r>
              <a:rPr lang="en" sz="1800" b="1" i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Competitors</a:t>
            </a:r>
            <a:r>
              <a:rPr lang="en" sz="1800" i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 and explain how you differ from them.</a:t>
            </a:r>
            <a:endParaRPr sz="1800" i="1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1270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Arial"/>
              <a:buNone/>
            </a:pPr>
            <a:endParaRPr sz="1800" i="1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0" name="Google Shape;190;p38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 rot="-8" flipH="1">
            <a:off x="0" y="159426"/>
            <a:ext cx="1262074" cy="612173"/>
          </a:xfrm>
          <a:prstGeom prst="rect">
            <a:avLst/>
          </a:prstGeom>
          <a:noFill/>
          <a:ln>
            <a:noFill/>
          </a:ln>
        </p:spPr>
      </p:pic>
      <p:sp>
        <p:nvSpPr>
          <p:cNvPr id="191" name="Google Shape;191;p38"/>
          <p:cNvSpPr txBox="1">
            <a:spLocks noGrp="1"/>
          </p:cNvSpPr>
          <p:nvPr>
            <p:ph type="title"/>
          </p:nvPr>
        </p:nvSpPr>
        <p:spPr>
          <a:xfrm>
            <a:off x="1262077" y="282000"/>
            <a:ext cx="6783900" cy="48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0000" tIns="90000" rIns="91425" bIns="900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lang="en" sz="3000">
                <a:solidFill>
                  <a:schemeClr val="dk1"/>
                </a:solidFill>
              </a:rPr>
              <a:t>Business Model * Plan &amp; Funds</a:t>
            </a:r>
            <a:endParaRPr sz="800">
              <a:latin typeface="Audiowide"/>
              <a:ea typeface="Audiowide"/>
              <a:cs typeface="Audiowide"/>
              <a:sym typeface="Audiowide"/>
            </a:endParaRPr>
          </a:p>
        </p:txBody>
      </p:sp>
      <p:sp>
        <p:nvSpPr>
          <p:cNvPr id="192" name="Google Shape;192;p38"/>
          <p:cNvSpPr txBox="1"/>
          <p:nvPr/>
        </p:nvSpPr>
        <p:spPr>
          <a:xfrm>
            <a:off x="657750" y="1132650"/>
            <a:ext cx="7686900" cy="3200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270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 i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Explain how you envision generating sales for your product or service.</a:t>
            </a:r>
            <a:endParaRPr sz="1800" i="1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1270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 i="1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1270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 i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Describe the way you envision implementing the business model.</a:t>
            </a:r>
            <a:endParaRPr sz="1800" i="1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1270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 i="1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1270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 i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Enumerate what the required funds would be and explain what they’d be used for.</a:t>
            </a:r>
            <a:endParaRPr sz="1800" i="1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1270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 i="1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1270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Arial"/>
              <a:buNone/>
            </a:pPr>
            <a:endParaRPr sz="1800" i="1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 b="1">
              <a:solidFill>
                <a:schemeClr val="dk1"/>
              </a:solidFill>
              <a:highlight>
                <a:schemeClr val="lt1"/>
              </a:highlight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7" name="Google Shape;197;p39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 rot="-8" flipH="1">
            <a:off x="0" y="159426"/>
            <a:ext cx="1262074" cy="612173"/>
          </a:xfrm>
          <a:prstGeom prst="rect">
            <a:avLst/>
          </a:prstGeom>
          <a:noFill/>
          <a:ln>
            <a:noFill/>
          </a:ln>
        </p:spPr>
      </p:pic>
      <p:sp>
        <p:nvSpPr>
          <p:cNvPr id="198" name="Google Shape;198;p39"/>
          <p:cNvSpPr txBox="1">
            <a:spLocks noGrp="1"/>
          </p:cNvSpPr>
          <p:nvPr>
            <p:ph type="title"/>
          </p:nvPr>
        </p:nvSpPr>
        <p:spPr>
          <a:xfrm>
            <a:off x="1262077" y="282000"/>
            <a:ext cx="6783900" cy="48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0000" tIns="90000" rIns="91425" bIns="900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lang="en" sz="3000">
                <a:solidFill>
                  <a:schemeClr val="dk1"/>
                </a:solidFill>
              </a:rPr>
              <a:t>Contact</a:t>
            </a:r>
            <a:endParaRPr sz="800">
              <a:latin typeface="Audiowide"/>
              <a:ea typeface="Audiowide"/>
              <a:cs typeface="Audiowide"/>
              <a:sym typeface="Audiowide"/>
            </a:endParaRPr>
          </a:p>
        </p:txBody>
      </p:sp>
      <p:sp>
        <p:nvSpPr>
          <p:cNvPr id="199" name="Google Shape;199;p39"/>
          <p:cNvSpPr txBox="1"/>
          <p:nvPr/>
        </p:nvSpPr>
        <p:spPr>
          <a:xfrm>
            <a:off x="657750" y="1132650"/>
            <a:ext cx="7686900" cy="3200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270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Arial"/>
              <a:buNone/>
            </a:pPr>
            <a:r>
              <a:rPr lang="en" sz="1800" i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List the contact details of the people in charge of the different aspects of the “business”.</a:t>
            </a:r>
            <a:endParaRPr sz="1800" i="1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 b="1">
              <a:solidFill>
                <a:schemeClr val="dk1"/>
              </a:solidFill>
              <a:highlight>
                <a:schemeClr val="lt1"/>
              </a:highlight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40" title="2025_SDV_Hackathon_Zoombg_v1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05" name="Google Shape;205;p40"/>
          <p:cNvGrpSpPr/>
          <p:nvPr/>
        </p:nvGrpSpPr>
        <p:grpSpPr>
          <a:xfrm>
            <a:off x="0" y="4044950"/>
            <a:ext cx="9144000" cy="1057950"/>
            <a:chOff x="0" y="4044950"/>
            <a:chExt cx="9144000" cy="1057950"/>
          </a:xfrm>
        </p:grpSpPr>
        <p:pic>
          <p:nvPicPr>
            <p:cNvPr id="206" name="Google Shape;206;p40"/>
            <p:cNvPicPr preferRelativeResize="0"/>
            <p:nvPr/>
          </p:nvPicPr>
          <p:blipFill rotWithShape="1">
            <a:blip r:embed="rId4">
              <a:alphaModFix/>
            </a:blip>
            <a:srcRect/>
            <a:stretch/>
          </p:blipFill>
          <p:spPr>
            <a:xfrm>
              <a:off x="268625" y="4044950"/>
              <a:ext cx="1634028" cy="568075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207" name="Google Shape;207;p40"/>
            <p:cNvSpPr txBox="1"/>
            <p:nvPr/>
          </p:nvSpPr>
          <p:spPr>
            <a:xfrm>
              <a:off x="0" y="4810400"/>
              <a:ext cx="9144000" cy="292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700"/>
                <a:buFont typeface="Arial"/>
                <a:buNone/>
              </a:pPr>
              <a:r>
                <a:rPr lang="en" sz="700" b="0" i="0" u="none" strike="noStrike" cap="none">
                  <a:solidFill>
                    <a:schemeClr val="lt1"/>
                  </a:solidFill>
                  <a:latin typeface="Roboto"/>
                  <a:ea typeface="Roboto"/>
                  <a:cs typeface="Roboto"/>
                  <a:sym typeface="Roboto"/>
                </a:rPr>
                <a:t>COPYRIGHT (C) 2025, ECLIPSE FOUNDATION</a:t>
              </a:r>
              <a:endParaRPr sz="7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sp>
        <p:nvSpPr>
          <p:cNvPr id="208" name="Google Shape;208;p40"/>
          <p:cNvSpPr txBox="1"/>
          <p:nvPr/>
        </p:nvSpPr>
        <p:spPr>
          <a:xfrm>
            <a:off x="0" y="2073175"/>
            <a:ext cx="9144000" cy="203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5000" dirty="0">
                <a:solidFill>
                  <a:schemeClr val="lt1"/>
                </a:solidFill>
                <a:latin typeface="Audiowide"/>
                <a:ea typeface="Audiowide"/>
                <a:cs typeface="Audiowide"/>
                <a:sym typeface="Audiowide"/>
              </a:rPr>
              <a:t>Thank You </a:t>
            </a: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5000" dirty="0">
                <a:solidFill>
                  <a:schemeClr val="lt1"/>
                </a:solidFill>
                <a:latin typeface="Audiowide"/>
                <a:ea typeface="Audiowide"/>
                <a:cs typeface="Audiowide"/>
                <a:sym typeface="Wingdings" pitchFamily="2" charset="2"/>
              </a:rPr>
              <a:t></a:t>
            </a:r>
            <a:endParaRPr lang="en" sz="5000" dirty="0">
              <a:solidFill>
                <a:schemeClr val="lt1"/>
              </a:solidFill>
              <a:latin typeface="Audiowide"/>
              <a:ea typeface="Audiowide"/>
              <a:cs typeface="Audiowide"/>
              <a:sym typeface="Audiowide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Metadata/LabelInfo.xml><?xml version="1.0" encoding="utf-8"?>
<clbl:labelList xmlns:clbl="http://schemas.microsoft.com/office/2020/mipLabelMetadata">
  <clbl:label id="{ebb139ea-6c0f-483b-849b-f4eb908d0141}" enabled="1" method="Standard" siteId="{ccc63daa-d84b-4abd-98fd-4eeb839de273}" contentBits="2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370</Words>
  <Application>Microsoft Macintosh PowerPoint</Application>
  <PresentationFormat>On-screen Show (16:9)</PresentationFormat>
  <Paragraphs>38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10</vt:i4>
      </vt:variant>
    </vt:vector>
  </HeadingPairs>
  <TitlesOfParts>
    <vt:vector size="16" baseType="lpstr">
      <vt:lpstr>Helvetica Neue Light</vt:lpstr>
      <vt:lpstr>Roboto</vt:lpstr>
      <vt:lpstr>Arial</vt:lpstr>
      <vt:lpstr>Audiowide</vt:lpstr>
      <vt:lpstr>Simple Light</vt:lpstr>
      <vt:lpstr>Simple Light</vt:lpstr>
      <vt:lpstr>PowerPoint Presentation</vt:lpstr>
      <vt:lpstr>PowerPoint Presentation</vt:lpstr>
      <vt:lpstr>The Plan</vt:lpstr>
      <vt:lpstr>Team and Structure</vt:lpstr>
      <vt:lpstr>The Product / Service</vt:lpstr>
      <vt:lpstr>The Added Value</vt:lpstr>
      <vt:lpstr>The Market &amp; The Competition</vt:lpstr>
      <vt:lpstr>Business Model * Plan &amp; Funds</vt:lpstr>
      <vt:lpstr>Contact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Sousa, Bruno (EXTERN: TGRECPV)</cp:lastModifiedBy>
  <cp:revision>1</cp:revision>
  <dcterms:modified xsi:type="dcterms:W3CDTF">2025-10-01T14:18:23Z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lassificationContentMarkingFooterLocations">
    <vt:lpwstr>Simple Light:3\Simple Light:3</vt:lpwstr>
  </property>
  <property fmtid="{D5CDD505-2E9C-101B-9397-08002B2CF9AE}" pid="3" name="ClassificationContentMarkingFooterText">
    <vt:lpwstr>INTERNAL</vt:lpwstr>
  </property>
</Properties>
</file>