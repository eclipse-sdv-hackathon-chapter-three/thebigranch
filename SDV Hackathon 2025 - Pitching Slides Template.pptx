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 id="2147483677"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9144000" cy="5143500" type="screen16x9"/>
  <p:notesSz cx="6858000" cy="9144000"/>
  <p:embeddedFontLst>
    <p:embeddedFont>
      <p:font typeface="Audiowide" panose="02000503000000020004" pitchFamily="2" charset="0"/>
      <p:regular r:id="rId14"/>
    </p:embeddedFont>
    <p:embeddedFont>
      <p:font typeface="Helvetica Neue Light" panose="02000403000000020004" pitchFamily="2" charset="0"/>
      <p:regular r:id="rId15"/>
      <p:bold r:id="rId16"/>
      <p:italic r:id="rId17"/>
      <p:boldItalic r:id="rId18"/>
    </p:embeddedFont>
    <p:embeddedFont>
      <p:font typeface="Roboto" panose="020000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8"/>
  </p:normalViewPr>
  <p:slideViewPr>
    <p:cSldViewPr snapToGrid="0">
      <p:cViewPr varScale="1">
        <p:scale>
          <a:sx n="158" d="100"/>
          <a:sy n="158" d="100"/>
        </p:scale>
        <p:origin x="512"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87cfdbd56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387cfdbd564_0_1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87cfdbd564_0_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g387cfdbd564_0_2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87cfdbd564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387cfdbd564_0_2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87cfdbd56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387cfdbd564_0_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87cfdbd564_0_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87cfdbd564_0_2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87cfdbd564_0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387cfdbd564_0_2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87cfdbd564_0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387cfdbd564_0_2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87cfdbd564_0_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387cfdbd564_0_2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87cfdbd564_0_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g387cfdbd564_0_2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87cfdbd564_0_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g387cfdbd564_0_2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3">
  <p:cSld name="TITLE_AND_BODY_4">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0" name="Google Shape;60;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1" name="Google Shape;6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lain slide 1">
  <p:cSld name="Custom Layout 2_1">
    <p:spTree>
      <p:nvGrpSpPr>
        <p:cNvPr id="1" name="Shape 62"/>
        <p:cNvGrpSpPr/>
        <p:nvPr/>
      </p:nvGrpSpPr>
      <p:grpSpPr>
        <a:xfrm>
          <a:off x="0" y="0"/>
          <a:ext cx="0" cy="0"/>
          <a:chOff x="0" y="0"/>
          <a:chExt cx="0" cy="0"/>
        </a:xfrm>
      </p:grpSpPr>
      <p:sp>
        <p:nvSpPr>
          <p:cNvPr id="63" name="Google Shape;63;p16"/>
          <p:cNvSpPr txBox="1"/>
          <p:nvPr/>
        </p:nvSpPr>
        <p:spPr>
          <a:xfrm>
            <a:off x="0" y="4867500"/>
            <a:ext cx="308700" cy="276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3D3C3B"/>
                </a:solidFill>
                <a:latin typeface="Helvetica Neue Light"/>
                <a:ea typeface="Helvetica Neue Light"/>
                <a:cs typeface="Helvetica Neue Light"/>
                <a:sym typeface="Helvetica Neue Light"/>
              </a:rPr>
              <a:t>‹#›</a:t>
            </a:fld>
            <a:endParaRPr sz="800" b="0" i="0" u="none" strike="noStrike" cap="none">
              <a:solidFill>
                <a:srgbClr val="3D3C3B"/>
              </a:solidFill>
              <a:latin typeface="Helvetica Neue Light"/>
              <a:ea typeface="Helvetica Neue Light"/>
              <a:cs typeface="Helvetica Neue Light"/>
              <a:sym typeface="Helvetica Neue Light"/>
            </a:endParaRPr>
          </a:p>
        </p:txBody>
      </p:sp>
      <p:pic>
        <p:nvPicPr>
          <p:cNvPr id="64" name="Google Shape;64;p16"/>
          <p:cNvPicPr preferRelativeResize="0"/>
          <p:nvPr/>
        </p:nvPicPr>
        <p:blipFill rotWithShape="1">
          <a:blip r:embed="rId2">
            <a:alphaModFix/>
          </a:blip>
          <a:srcRect/>
          <a:stretch/>
        </p:blipFill>
        <p:spPr>
          <a:xfrm>
            <a:off x="7843147" y="4663225"/>
            <a:ext cx="1010976" cy="307800"/>
          </a:xfrm>
          <a:prstGeom prst="rect">
            <a:avLst/>
          </a:prstGeom>
          <a:noFill/>
          <a:ln>
            <a:noFill/>
          </a:ln>
        </p:spPr>
      </p:pic>
      <p:pic>
        <p:nvPicPr>
          <p:cNvPr id="65" name="Google Shape;65;p16"/>
          <p:cNvPicPr preferRelativeResize="0"/>
          <p:nvPr/>
        </p:nvPicPr>
        <p:blipFill rotWithShape="1">
          <a:blip r:embed="rId3">
            <a:alphaModFix amt="6000"/>
          </a:blip>
          <a:srcRect/>
          <a:stretch/>
        </p:blipFill>
        <p:spPr>
          <a:xfrm>
            <a:off x="3378625" y="2347025"/>
            <a:ext cx="5765376" cy="2796476"/>
          </a:xfrm>
          <a:prstGeom prst="rect">
            <a:avLst/>
          </a:prstGeom>
          <a:noFill/>
          <a:ln>
            <a:noFill/>
          </a:ln>
        </p:spPr>
      </p:pic>
      <p:sp>
        <p:nvSpPr>
          <p:cNvPr id="66" name="Google Shape;66;p16"/>
          <p:cNvSpPr txBox="1">
            <a:spLocks noGrp="1"/>
          </p:cNvSpPr>
          <p:nvPr>
            <p:ph type="title"/>
          </p:nvPr>
        </p:nvSpPr>
        <p:spPr>
          <a:xfrm>
            <a:off x="308977" y="229100"/>
            <a:ext cx="6783900" cy="489600"/>
          </a:xfrm>
          <a:prstGeom prst="rect">
            <a:avLst/>
          </a:prstGeom>
          <a:noFill/>
          <a:ln>
            <a:noFill/>
          </a:ln>
        </p:spPr>
        <p:txBody>
          <a:bodyPr spcFirstLastPara="1" wrap="square" lIns="90000" tIns="90000" rIns="91425" bIns="90000" anchor="t" anchorCtr="0">
            <a:noAutofit/>
          </a:bodyPr>
          <a:lstStyle>
            <a:lvl1pPr marR="0" lvl="0" algn="l">
              <a:lnSpc>
                <a:spcPct val="100000"/>
              </a:lnSpc>
              <a:spcBef>
                <a:spcPts val="0"/>
              </a:spcBef>
              <a:spcAft>
                <a:spcPts val="0"/>
              </a:spcAft>
              <a:buClr>
                <a:srgbClr val="701C7F"/>
              </a:buClr>
              <a:buSzPts val="2200"/>
              <a:buNone/>
              <a:defRPr sz="2200" i="0" u="none" strike="noStrike" cap="none">
                <a:solidFill>
                  <a:srgbClr val="701C7F"/>
                </a:solidFill>
              </a:defRPr>
            </a:lvl1pPr>
            <a:lvl2pPr lvl="1" algn="l">
              <a:lnSpc>
                <a:spcPct val="100000"/>
              </a:lnSpc>
              <a:spcBef>
                <a:spcPts val="0"/>
              </a:spcBef>
              <a:spcAft>
                <a:spcPts val="0"/>
              </a:spcAft>
              <a:buSzPts val="2400"/>
              <a:buFont typeface="Roboto"/>
              <a:buNone/>
              <a:defRPr sz="2400" b="1">
                <a:latin typeface="Roboto"/>
                <a:ea typeface="Roboto"/>
                <a:cs typeface="Roboto"/>
                <a:sym typeface="Roboto"/>
              </a:defRPr>
            </a:lvl2pPr>
            <a:lvl3pPr lvl="2" algn="l">
              <a:lnSpc>
                <a:spcPct val="100000"/>
              </a:lnSpc>
              <a:spcBef>
                <a:spcPts val="0"/>
              </a:spcBef>
              <a:spcAft>
                <a:spcPts val="0"/>
              </a:spcAft>
              <a:buSzPts val="2400"/>
              <a:buFont typeface="Roboto"/>
              <a:buNone/>
              <a:defRPr sz="2400" b="1">
                <a:latin typeface="Roboto"/>
                <a:ea typeface="Roboto"/>
                <a:cs typeface="Roboto"/>
                <a:sym typeface="Roboto"/>
              </a:defRPr>
            </a:lvl3pPr>
            <a:lvl4pPr lvl="3" algn="l">
              <a:lnSpc>
                <a:spcPct val="100000"/>
              </a:lnSpc>
              <a:spcBef>
                <a:spcPts val="0"/>
              </a:spcBef>
              <a:spcAft>
                <a:spcPts val="0"/>
              </a:spcAft>
              <a:buSzPts val="2400"/>
              <a:buFont typeface="Roboto"/>
              <a:buNone/>
              <a:defRPr sz="2400" b="1">
                <a:latin typeface="Roboto"/>
                <a:ea typeface="Roboto"/>
                <a:cs typeface="Roboto"/>
                <a:sym typeface="Roboto"/>
              </a:defRPr>
            </a:lvl4pPr>
            <a:lvl5pPr lvl="4" algn="l">
              <a:lnSpc>
                <a:spcPct val="100000"/>
              </a:lnSpc>
              <a:spcBef>
                <a:spcPts val="0"/>
              </a:spcBef>
              <a:spcAft>
                <a:spcPts val="0"/>
              </a:spcAft>
              <a:buSzPts val="2400"/>
              <a:buFont typeface="Roboto"/>
              <a:buNone/>
              <a:defRPr sz="2400" b="1">
                <a:latin typeface="Roboto"/>
                <a:ea typeface="Roboto"/>
                <a:cs typeface="Roboto"/>
                <a:sym typeface="Roboto"/>
              </a:defRPr>
            </a:lvl5pPr>
            <a:lvl6pPr lvl="5" algn="l">
              <a:lnSpc>
                <a:spcPct val="100000"/>
              </a:lnSpc>
              <a:spcBef>
                <a:spcPts val="0"/>
              </a:spcBef>
              <a:spcAft>
                <a:spcPts val="0"/>
              </a:spcAft>
              <a:buSzPts val="2400"/>
              <a:buFont typeface="Roboto"/>
              <a:buNone/>
              <a:defRPr sz="2400" b="1">
                <a:latin typeface="Roboto"/>
                <a:ea typeface="Roboto"/>
                <a:cs typeface="Roboto"/>
                <a:sym typeface="Roboto"/>
              </a:defRPr>
            </a:lvl6pPr>
            <a:lvl7pPr lvl="6" algn="l">
              <a:lnSpc>
                <a:spcPct val="100000"/>
              </a:lnSpc>
              <a:spcBef>
                <a:spcPts val="0"/>
              </a:spcBef>
              <a:spcAft>
                <a:spcPts val="0"/>
              </a:spcAft>
              <a:buSzPts val="2400"/>
              <a:buFont typeface="Roboto"/>
              <a:buNone/>
              <a:defRPr sz="2400" b="1">
                <a:latin typeface="Roboto"/>
                <a:ea typeface="Roboto"/>
                <a:cs typeface="Roboto"/>
                <a:sym typeface="Roboto"/>
              </a:defRPr>
            </a:lvl7pPr>
            <a:lvl8pPr lvl="7" algn="l">
              <a:lnSpc>
                <a:spcPct val="100000"/>
              </a:lnSpc>
              <a:spcBef>
                <a:spcPts val="0"/>
              </a:spcBef>
              <a:spcAft>
                <a:spcPts val="0"/>
              </a:spcAft>
              <a:buSzPts val="2400"/>
              <a:buFont typeface="Roboto"/>
              <a:buNone/>
              <a:defRPr sz="2400" b="1">
                <a:latin typeface="Roboto"/>
                <a:ea typeface="Roboto"/>
                <a:cs typeface="Roboto"/>
                <a:sym typeface="Roboto"/>
              </a:defRPr>
            </a:lvl8pPr>
            <a:lvl9pPr lvl="8" algn="l">
              <a:lnSpc>
                <a:spcPct val="100000"/>
              </a:lnSpc>
              <a:spcBef>
                <a:spcPts val="0"/>
              </a:spcBef>
              <a:spcAft>
                <a:spcPts val="0"/>
              </a:spcAft>
              <a:buSzPts val="2400"/>
              <a:buFont typeface="Roboto"/>
              <a:buNone/>
              <a:defRPr sz="2400" b="1">
                <a:latin typeface="Roboto"/>
                <a:ea typeface="Roboto"/>
                <a:cs typeface="Roboto"/>
                <a:sym typeface="Roboto"/>
              </a:defRPr>
            </a:lvl9pPr>
          </a:lstStyle>
          <a:p>
            <a:endParaRPr/>
          </a:p>
        </p:txBody>
      </p:sp>
      <p:sp>
        <p:nvSpPr>
          <p:cNvPr id="67" name="Google Shape;67;p16"/>
          <p:cNvSpPr txBox="1"/>
          <p:nvPr/>
        </p:nvSpPr>
        <p:spPr>
          <a:xfrm>
            <a:off x="0" y="4810400"/>
            <a:ext cx="9144000" cy="292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999999"/>
                </a:solidFill>
                <a:latin typeface="Roboto"/>
                <a:ea typeface="Roboto"/>
                <a:cs typeface="Roboto"/>
                <a:sym typeface="Roboto"/>
              </a:rPr>
              <a:t>COPYRIGHT (C) 2025, ECLIPSE FOUNDATION</a:t>
            </a:r>
            <a:endParaRPr sz="700" b="0" i="0" u="none" strike="noStrike" cap="none">
              <a:solidFill>
                <a:srgbClr val="999999"/>
              </a:solidFill>
              <a:latin typeface="Roboto"/>
              <a:ea typeface="Roboto"/>
              <a:cs typeface="Roboto"/>
              <a:sym typeface="Robot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p1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70" name="Google Shape;70;p1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71" name="Google Shape;71;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74" name="Google Shape;74;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5"/>
        <p:cNvGrpSpPr/>
        <p:nvPr/>
      </p:nvGrpSpPr>
      <p:grpSpPr>
        <a:xfrm>
          <a:off x="0" y="0"/>
          <a:ext cx="0" cy="0"/>
          <a:chOff x="0" y="0"/>
          <a:chExt cx="0" cy="0"/>
        </a:xfrm>
      </p:grpSpPr>
      <p:sp>
        <p:nvSpPr>
          <p:cNvPr id="76" name="Google Shape;7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7" name="Google Shape;77;p1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8" name="Google Shape;78;p1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9" name="Google Shape;79;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0"/>
        <p:cNvGrpSpPr/>
        <p:nvPr/>
      </p:nvGrpSpPr>
      <p:grpSpPr>
        <a:xfrm>
          <a:off x="0" y="0"/>
          <a:ext cx="0" cy="0"/>
          <a:chOff x="0" y="0"/>
          <a:chExt cx="0" cy="0"/>
        </a:xfrm>
      </p:grpSpPr>
      <p:sp>
        <p:nvSpPr>
          <p:cNvPr id="81" name="Google Shape;81;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2" name="Google Shape;82;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3"/>
        <p:cNvGrpSpPr/>
        <p:nvPr/>
      </p:nvGrpSpPr>
      <p:grpSpPr>
        <a:xfrm>
          <a:off x="0" y="0"/>
          <a:ext cx="0" cy="0"/>
          <a:chOff x="0" y="0"/>
          <a:chExt cx="0" cy="0"/>
        </a:xfrm>
      </p:grpSpPr>
      <p:sp>
        <p:nvSpPr>
          <p:cNvPr id="84" name="Google Shape;84;p2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85" name="Google Shape;85;p2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86" name="Google Shape;86;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7"/>
        <p:cNvGrpSpPr/>
        <p:nvPr/>
      </p:nvGrpSpPr>
      <p:grpSpPr>
        <a:xfrm>
          <a:off x="0" y="0"/>
          <a:ext cx="0" cy="0"/>
          <a:chOff x="0" y="0"/>
          <a:chExt cx="0" cy="0"/>
        </a:xfrm>
      </p:grpSpPr>
      <p:sp>
        <p:nvSpPr>
          <p:cNvPr id="88" name="Google Shape;88;p2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9" name="Google Shape;89;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0"/>
        <p:cNvGrpSpPr/>
        <p:nvPr/>
      </p:nvGrpSpPr>
      <p:grpSpPr>
        <a:xfrm>
          <a:off x="0" y="0"/>
          <a:ext cx="0" cy="0"/>
          <a:chOff x="0" y="0"/>
          <a:chExt cx="0" cy="0"/>
        </a:xfrm>
      </p:grpSpPr>
      <p:sp>
        <p:nvSpPr>
          <p:cNvPr id="91" name="Google Shape;91;p2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2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3" name="Google Shape;93;p2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4" name="Google Shape;94;p2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95" name="Google Shape;9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6"/>
        <p:cNvGrpSpPr/>
        <p:nvPr/>
      </p:nvGrpSpPr>
      <p:grpSpPr>
        <a:xfrm>
          <a:off x="0" y="0"/>
          <a:ext cx="0" cy="0"/>
          <a:chOff x="0" y="0"/>
          <a:chExt cx="0" cy="0"/>
        </a:xfrm>
      </p:grpSpPr>
      <p:sp>
        <p:nvSpPr>
          <p:cNvPr id="97" name="Google Shape;97;p2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98" name="Google Shape;98;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9"/>
        <p:cNvGrpSpPr/>
        <p:nvPr/>
      </p:nvGrpSpPr>
      <p:grpSpPr>
        <a:xfrm>
          <a:off x="0" y="0"/>
          <a:ext cx="0" cy="0"/>
          <a:chOff x="0" y="0"/>
          <a:chExt cx="0" cy="0"/>
        </a:xfrm>
      </p:grpSpPr>
      <p:sp>
        <p:nvSpPr>
          <p:cNvPr id="100" name="Google Shape;100;p2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01" name="Google Shape;101;p2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102" name="Google Shape;102;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3"/>
        <p:cNvGrpSpPr/>
        <p:nvPr/>
      </p:nvGrpSpPr>
      <p:grpSpPr>
        <a:xfrm>
          <a:off x="0" y="0"/>
          <a:ext cx="0" cy="0"/>
          <a:chOff x="0" y="0"/>
          <a:chExt cx="0" cy="0"/>
        </a:xfrm>
      </p:grpSpPr>
      <p:sp>
        <p:nvSpPr>
          <p:cNvPr id="104" name="Google Shape;104;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1" name="Shape 105"/>
        <p:cNvGrpSpPr/>
        <p:nvPr/>
      </p:nvGrpSpPr>
      <p:grpSpPr>
        <a:xfrm>
          <a:off x="0" y="0"/>
          <a:ext cx="0" cy="0"/>
          <a:chOff x="0" y="0"/>
          <a:chExt cx="0" cy="0"/>
        </a:xfrm>
      </p:grpSpPr>
      <p:sp>
        <p:nvSpPr>
          <p:cNvPr id="106" name="Google Shape;106;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07" name="Google Shape;107;p27"/>
          <p:cNvPicPr preferRelativeResize="0"/>
          <p:nvPr/>
        </p:nvPicPr>
        <p:blipFill rotWithShape="1">
          <a:blip r:embed="rId2">
            <a:alphaModFix/>
          </a:blip>
          <a:srcRect/>
          <a:stretch/>
        </p:blipFill>
        <p:spPr>
          <a:xfrm>
            <a:off x="2774125" y="0"/>
            <a:ext cx="6369875" cy="5143500"/>
          </a:xfrm>
          <a:prstGeom prst="rect">
            <a:avLst/>
          </a:prstGeom>
          <a:noFill/>
          <a:ln>
            <a:noFill/>
          </a:ln>
        </p:spPr>
      </p:pic>
      <p:sp>
        <p:nvSpPr>
          <p:cNvPr id="108" name="Google Shape;108;p27"/>
          <p:cNvSpPr txBox="1"/>
          <p:nvPr/>
        </p:nvSpPr>
        <p:spPr>
          <a:xfrm>
            <a:off x="3321725" y="347950"/>
            <a:ext cx="5421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FFFFFF"/>
              </a:solidFill>
              <a:latin typeface="Roboto"/>
              <a:ea typeface="Roboto"/>
              <a:cs typeface="Roboto"/>
              <a:sym typeface="Roboto"/>
            </a:endParaRPr>
          </a:p>
        </p:txBody>
      </p:sp>
      <p:sp>
        <p:nvSpPr>
          <p:cNvPr id="109" name="Google Shape;109;p27"/>
          <p:cNvSpPr txBox="1"/>
          <p:nvPr/>
        </p:nvSpPr>
        <p:spPr>
          <a:xfrm>
            <a:off x="3321725" y="1236181"/>
            <a:ext cx="54213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Roboto"/>
              <a:ea typeface="Roboto"/>
              <a:cs typeface="Roboto"/>
              <a:sym typeface="Roboto"/>
            </a:endParaRPr>
          </a:p>
        </p:txBody>
      </p:sp>
      <p:sp>
        <p:nvSpPr>
          <p:cNvPr id="110" name="Google Shape;110;p27"/>
          <p:cNvSpPr txBox="1"/>
          <p:nvPr/>
        </p:nvSpPr>
        <p:spPr>
          <a:xfrm>
            <a:off x="3321725" y="2124413"/>
            <a:ext cx="56370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FFFFFF"/>
              </a:solidFill>
              <a:latin typeface="Roboto"/>
              <a:ea typeface="Roboto"/>
              <a:cs typeface="Roboto"/>
              <a:sym typeface="Roboto"/>
            </a:endParaRPr>
          </a:p>
        </p:txBody>
      </p:sp>
      <p:sp>
        <p:nvSpPr>
          <p:cNvPr id="111" name="Google Shape;111;p27"/>
          <p:cNvSpPr txBox="1"/>
          <p:nvPr/>
        </p:nvSpPr>
        <p:spPr>
          <a:xfrm>
            <a:off x="3321725" y="3012644"/>
            <a:ext cx="5421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FFFFFF"/>
              </a:solidFill>
              <a:latin typeface="Roboto"/>
              <a:ea typeface="Roboto"/>
              <a:cs typeface="Roboto"/>
              <a:sym typeface="Roboto"/>
            </a:endParaRPr>
          </a:p>
        </p:txBody>
      </p:sp>
      <p:sp>
        <p:nvSpPr>
          <p:cNvPr id="112" name="Google Shape;112;p27"/>
          <p:cNvSpPr txBox="1"/>
          <p:nvPr/>
        </p:nvSpPr>
        <p:spPr>
          <a:xfrm>
            <a:off x="3321725" y="3900875"/>
            <a:ext cx="5421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FFFFFF"/>
              </a:solidFill>
              <a:latin typeface="Roboto"/>
              <a:ea typeface="Roboto"/>
              <a:cs typeface="Roboto"/>
              <a:sym typeface="Roboto"/>
            </a:endParaRPr>
          </a:p>
        </p:txBody>
      </p:sp>
      <p:sp>
        <p:nvSpPr>
          <p:cNvPr id="113" name="Google Shape;113;p27"/>
          <p:cNvSpPr txBox="1"/>
          <p:nvPr/>
        </p:nvSpPr>
        <p:spPr>
          <a:xfrm>
            <a:off x="0" y="4760400"/>
            <a:ext cx="9144000" cy="3831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600"/>
              <a:buFont typeface="Arial"/>
              <a:buNone/>
            </a:pPr>
            <a:r>
              <a:rPr lang="en" sz="600" b="0" i="0" u="none" strike="noStrike" cap="none">
                <a:solidFill>
                  <a:srgbClr val="AEABAB"/>
                </a:solidFill>
                <a:latin typeface="Roboto"/>
                <a:ea typeface="Roboto"/>
                <a:cs typeface="Roboto"/>
                <a:sym typeface="Roboto"/>
              </a:rPr>
              <a:t>COPYRIGHT (C) 2025, ECLIPSE FOUNDATION. | THIS WORK IS LICENSED UNDER A CREATIVE COMMONS ATTRIBUTION 4.0 INTERNATIONAL LICENSE (CC BY 4.0)</a:t>
            </a:r>
            <a:endParaRPr sz="600" b="0" i="0" u="none" strike="noStrike" cap="none">
              <a:solidFill>
                <a:srgbClr val="AEABAB"/>
              </a:solidFill>
              <a:latin typeface="Roboto"/>
              <a:ea typeface="Roboto"/>
              <a:cs typeface="Roboto"/>
              <a:sym typeface="Roboto"/>
            </a:endParaRPr>
          </a:p>
          <a:p>
            <a:pPr marL="0" marR="0" lvl="0" indent="0" algn="ctr" rtl="0">
              <a:lnSpc>
                <a:spcPct val="115000"/>
              </a:lnSpc>
              <a:spcBef>
                <a:spcPts val="0"/>
              </a:spcBef>
              <a:spcAft>
                <a:spcPts val="0"/>
              </a:spcAft>
              <a:buClr>
                <a:srgbClr val="000000"/>
              </a:buClr>
              <a:buSzPts val="600"/>
              <a:buFont typeface="Arial"/>
              <a:buNone/>
            </a:pPr>
            <a:endParaRPr sz="600" b="0" i="0" u="none" strike="noStrike" cap="none">
              <a:solidFill>
                <a:srgbClr val="AEABAB"/>
              </a:solidFill>
              <a:latin typeface="Roboto"/>
              <a:ea typeface="Roboto"/>
              <a:cs typeface="Roboto"/>
              <a:sym typeface="Roboto"/>
            </a:endParaRPr>
          </a:p>
        </p:txBody>
      </p:sp>
      <p:sp>
        <p:nvSpPr>
          <p:cNvPr id="114" name="Google Shape;114;p2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a:t>
            </a:fld>
            <a:endParaRPr sz="1000" b="0" i="0" u="none" strike="noStrike" cap="none">
              <a:solidFill>
                <a:srgbClr val="595959"/>
              </a:solidFill>
              <a:latin typeface="Arial"/>
              <a:ea typeface="Arial"/>
              <a:cs typeface="Arial"/>
              <a:sym typeface="Arial"/>
            </a:endParaRPr>
          </a:p>
        </p:txBody>
      </p:sp>
      <p:pic>
        <p:nvPicPr>
          <p:cNvPr id="115" name="Google Shape;115;p27"/>
          <p:cNvPicPr preferRelativeResize="0"/>
          <p:nvPr/>
        </p:nvPicPr>
        <p:blipFill rotWithShape="1">
          <a:blip r:embed="rId3">
            <a:alphaModFix/>
          </a:blip>
          <a:srcRect/>
          <a:stretch/>
        </p:blipFill>
        <p:spPr>
          <a:xfrm>
            <a:off x="7657550" y="4664025"/>
            <a:ext cx="1038973" cy="316325"/>
          </a:xfrm>
          <a:prstGeom prst="rect">
            <a:avLst/>
          </a:prstGeom>
          <a:noFill/>
          <a:ln>
            <a:noFill/>
          </a:ln>
        </p:spPr>
      </p:pic>
      <p:sp>
        <p:nvSpPr>
          <p:cNvPr id="116" name="Google Shape;116;p2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a:t>
            </a:fld>
            <a:endParaRPr sz="1000" b="0" i="0" u="none" strike="noStrike" cap="none">
              <a:solidFill>
                <a:srgbClr val="595959"/>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17"/>
        <p:cNvGrpSpPr/>
        <p:nvPr/>
      </p:nvGrpSpPr>
      <p:grpSpPr>
        <a:xfrm>
          <a:off x="0" y="0"/>
          <a:ext cx="0" cy="0"/>
          <a:chOff x="0" y="0"/>
          <a:chExt cx="0" cy="0"/>
        </a:xfrm>
      </p:grpSpPr>
      <p:sp>
        <p:nvSpPr>
          <p:cNvPr id="118" name="Google Shape;118;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9" name="Google Shape;119;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20" name="Google Shape;120;p28"/>
          <p:cNvPicPr preferRelativeResize="0"/>
          <p:nvPr/>
        </p:nvPicPr>
        <p:blipFill rotWithShape="1">
          <a:blip r:embed="rId2">
            <a:alphaModFix/>
          </a:blip>
          <a:srcRect/>
          <a:stretch/>
        </p:blipFill>
        <p:spPr>
          <a:xfrm>
            <a:off x="7843147" y="4663225"/>
            <a:ext cx="1010976" cy="307800"/>
          </a:xfrm>
          <a:prstGeom prst="rect">
            <a:avLst/>
          </a:prstGeom>
          <a:noFill/>
          <a:ln>
            <a:noFill/>
          </a:ln>
        </p:spPr>
      </p:pic>
      <p:pic>
        <p:nvPicPr>
          <p:cNvPr id="121" name="Google Shape;121;p28"/>
          <p:cNvPicPr preferRelativeResize="0"/>
          <p:nvPr/>
        </p:nvPicPr>
        <p:blipFill rotWithShape="1">
          <a:blip r:embed="rId3">
            <a:alphaModFix/>
          </a:blip>
          <a:srcRect/>
          <a:stretch/>
        </p:blipFill>
        <p:spPr>
          <a:xfrm>
            <a:off x="311700" y="1152475"/>
            <a:ext cx="8551898" cy="3416401"/>
          </a:xfrm>
          <a:prstGeom prst="rect">
            <a:avLst/>
          </a:prstGeom>
          <a:noFill/>
          <a:ln>
            <a:noFill/>
          </a:ln>
        </p:spPr>
      </p:pic>
      <p:sp>
        <p:nvSpPr>
          <p:cNvPr id="122" name="Google Shape;122;p28"/>
          <p:cNvSpPr txBox="1"/>
          <p:nvPr/>
        </p:nvSpPr>
        <p:spPr>
          <a:xfrm>
            <a:off x="0" y="4810400"/>
            <a:ext cx="9144000" cy="292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9E9E9E"/>
                </a:solidFill>
                <a:latin typeface="Roboto"/>
                <a:ea typeface="Roboto"/>
                <a:cs typeface="Roboto"/>
                <a:sym typeface="Roboto"/>
              </a:rPr>
              <a:t>COPYRIGHT (C) 2025, ECLIPSE FOUNDATION</a:t>
            </a:r>
            <a:endParaRPr sz="700" b="0" i="0" u="none" strike="noStrike" cap="none">
              <a:solidFill>
                <a:srgbClr val="9E9E9E"/>
              </a:solidFill>
              <a:latin typeface="Roboto"/>
              <a:ea typeface="Roboto"/>
              <a:cs typeface="Roboto"/>
              <a:sym typeface="Roboto"/>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1 1">
  <p:cSld name="TITLE_AND_BODY_2">
    <p:spTree>
      <p:nvGrpSpPr>
        <p:cNvPr id="1" name="Shape 123"/>
        <p:cNvGrpSpPr/>
        <p:nvPr/>
      </p:nvGrpSpPr>
      <p:grpSpPr>
        <a:xfrm>
          <a:off x="0" y="0"/>
          <a:ext cx="0" cy="0"/>
          <a:chOff x="0" y="0"/>
          <a:chExt cx="0" cy="0"/>
        </a:xfrm>
      </p:grpSpPr>
      <p:sp>
        <p:nvSpPr>
          <p:cNvPr id="124" name="Google Shape;124;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5" name="Google Shape;125;p2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6" name="Google Shape;126;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aption 1">
  <p:cSld name="CAPTION_ONLY_1">
    <p:spTree>
      <p:nvGrpSpPr>
        <p:cNvPr id="1" name="Shape 127"/>
        <p:cNvGrpSpPr/>
        <p:nvPr/>
      </p:nvGrpSpPr>
      <p:grpSpPr>
        <a:xfrm>
          <a:off x="0" y="0"/>
          <a:ext cx="0" cy="0"/>
          <a:chOff x="0" y="0"/>
          <a:chExt cx="0" cy="0"/>
        </a:xfrm>
      </p:grpSpPr>
      <p:sp>
        <p:nvSpPr>
          <p:cNvPr id="128" name="Google Shape;12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29" name="Google Shape;129;p30"/>
          <p:cNvPicPr preferRelativeResize="0"/>
          <p:nvPr/>
        </p:nvPicPr>
        <p:blipFill rotWithShape="1">
          <a:blip r:embed="rId2">
            <a:alphaModFix/>
          </a:blip>
          <a:srcRect/>
          <a:stretch/>
        </p:blipFill>
        <p:spPr>
          <a:xfrm>
            <a:off x="-107650" y="-157900"/>
            <a:ext cx="9251650" cy="5301399"/>
          </a:xfrm>
          <a:prstGeom prst="rect">
            <a:avLst/>
          </a:prstGeom>
          <a:noFill/>
          <a:ln>
            <a:noFill/>
          </a:ln>
        </p:spPr>
      </p:pic>
      <p:sp>
        <p:nvSpPr>
          <p:cNvPr id="130" name="Google Shape;130;p30"/>
          <p:cNvSpPr txBox="1"/>
          <p:nvPr/>
        </p:nvSpPr>
        <p:spPr>
          <a:xfrm>
            <a:off x="8464552" y="4652357"/>
            <a:ext cx="555300" cy="402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a:t>
            </a:fld>
            <a:endParaRPr sz="1000" b="0" i="0" u="none" strike="noStrike" cap="none">
              <a:solidFill>
                <a:srgbClr val="595959"/>
              </a:solidFill>
              <a:latin typeface="Arial"/>
              <a:ea typeface="Arial"/>
              <a:cs typeface="Arial"/>
              <a:sym typeface="Arial"/>
            </a:endParaRPr>
          </a:p>
        </p:txBody>
      </p:sp>
      <p:sp>
        <p:nvSpPr>
          <p:cNvPr id="131" name="Google Shape;131;p30"/>
          <p:cNvSpPr txBox="1"/>
          <p:nvPr/>
        </p:nvSpPr>
        <p:spPr>
          <a:xfrm>
            <a:off x="8464552" y="4652357"/>
            <a:ext cx="555300" cy="402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a:t>
            </a:fld>
            <a:endParaRPr sz="1000" b="0" i="0" u="none" strike="noStrike" cap="none">
              <a:solidFill>
                <a:srgbClr val="595959"/>
              </a:solidFill>
              <a:latin typeface="Arial"/>
              <a:ea typeface="Arial"/>
              <a:cs typeface="Arial"/>
              <a:sym typeface="Arial"/>
            </a:endParaRPr>
          </a:p>
        </p:txBody>
      </p:sp>
      <p:sp>
        <p:nvSpPr>
          <p:cNvPr id="132" name="Google Shape;132;p30"/>
          <p:cNvSpPr txBox="1"/>
          <p:nvPr/>
        </p:nvSpPr>
        <p:spPr>
          <a:xfrm>
            <a:off x="0" y="4810400"/>
            <a:ext cx="9144000" cy="292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Roboto"/>
                <a:ea typeface="Roboto"/>
                <a:cs typeface="Roboto"/>
                <a:sym typeface="Roboto"/>
              </a:rPr>
              <a:t>COPYRIGHT (C) 2025, ECLIPSE FOUNDATION</a:t>
            </a:r>
            <a:endParaRPr sz="700" b="0" i="0" u="none" strike="noStrike" cap="non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8DFDA197-F0DD-17CF-568C-47125ABFCEA2}"/>
              </a:ext>
            </a:extLst>
          </p:cNvPr>
          <p:cNvSpPr txBox="1"/>
          <p:nvPr userDrawn="1">
            <p:extLst>
              <p:ext uri="{1162E1C5-73C7-4A58-AE30-91384D911F3F}">
                <p184:classification xmlns:p184="http://schemas.microsoft.com/office/powerpoint/2018/4/main" val="ftr"/>
              </p:ext>
            </p:extLst>
          </p:nvPr>
        </p:nvSpPr>
        <p:spPr>
          <a:xfrm>
            <a:off x="152400" y="4853940"/>
            <a:ext cx="596900" cy="137160"/>
          </a:xfrm>
          <a:prstGeom prst="rect">
            <a:avLst/>
          </a:prstGeom>
        </p:spPr>
        <p:txBody>
          <a:bodyPr horzOverflow="overflow" lIns="0" tIns="0" rIns="0" bIns="0">
            <a:spAutoFit/>
          </a:bodyPr>
          <a:lstStyle/>
          <a:p>
            <a:pPr algn="l"/>
            <a:r>
              <a:rPr lang="en-PT" sz="900">
                <a:solidFill>
                  <a:srgbClr val="91B900">
                    <a:alpha val="50000"/>
                  </a:srgbClr>
                </a:solidFill>
                <a:latin typeface="Arial" panose="020B0604020202020204" pitchFamily="34" charset="0"/>
                <a:cs typeface="Arial" panose="020B0604020202020204" pitchFamily="34" charset="0"/>
              </a:rPr>
              <a:t>INTERNAL</a:t>
            </a: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6" name="Google Shape;56;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104E5378-3F40-EECF-CE04-11ECD8210612}"/>
              </a:ext>
            </a:extLst>
          </p:cNvPr>
          <p:cNvSpPr txBox="1"/>
          <p:nvPr userDrawn="1">
            <p:extLst>
              <p:ext uri="{1162E1C5-73C7-4A58-AE30-91384D911F3F}">
                <p184:classification xmlns:p184="http://schemas.microsoft.com/office/powerpoint/2018/4/main" val="ftr"/>
              </p:ext>
            </p:extLst>
          </p:nvPr>
        </p:nvSpPr>
        <p:spPr>
          <a:xfrm>
            <a:off x="152400" y="4853940"/>
            <a:ext cx="596900" cy="137160"/>
          </a:xfrm>
          <a:prstGeom prst="rect">
            <a:avLst/>
          </a:prstGeom>
        </p:spPr>
        <p:txBody>
          <a:bodyPr horzOverflow="overflow" lIns="0" tIns="0" rIns="0" bIns="0">
            <a:spAutoFit/>
          </a:bodyPr>
          <a:lstStyle/>
          <a:p>
            <a:pPr algn="l"/>
            <a:r>
              <a:rPr lang="en-PT" sz="900">
                <a:solidFill>
                  <a:srgbClr val="91B900">
                    <a:alpha val="50000"/>
                  </a:srgbClr>
                </a:solidFill>
                <a:latin typeface="Arial" panose="020B0604020202020204" pitchFamily="34" charset="0"/>
                <a:cs typeface="Arial" panose="020B0604020202020204" pitchFamily="34" charset="0"/>
              </a:rPr>
              <a:t>INTERNAL</a:t>
            </a: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31" title="2025_SDV_Hackathon_Zoombg_v1.png"/>
          <p:cNvPicPr preferRelativeResize="0"/>
          <p:nvPr/>
        </p:nvPicPr>
        <p:blipFill>
          <a:blip r:embed="rId3">
            <a:alphaModFix/>
          </a:blip>
          <a:stretch>
            <a:fillRect/>
          </a:stretch>
        </p:blipFill>
        <p:spPr>
          <a:xfrm>
            <a:off x="0" y="0"/>
            <a:ext cx="9144000" cy="5143500"/>
          </a:xfrm>
          <a:prstGeom prst="rect">
            <a:avLst/>
          </a:prstGeom>
          <a:noFill/>
          <a:ln>
            <a:noFill/>
          </a:ln>
        </p:spPr>
      </p:pic>
      <p:grpSp>
        <p:nvGrpSpPr>
          <p:cNvPr id="138" name="Google Shape;138;p31"/>
          <p:cNvGrpSpPr/>
          <p:nvPr/>
        </p:nvGrpSpPr>
        <p:grpSpPr>
          <a:xfrm>
            <a:off x="0" y="4044950"/>
            <a:ext cx="9144000" cy="1057950"/>
            <a:chOff x="0" y="4044950"/>
            <a:chExt cx="9144000" cy="1057950"/>
          </a:xfrm>
        </p:grpSpPr>
        <p:pic>
          <p:nvPicPr>
            <p:cNvPr id="139" name="Google Shape;139;p31"/>
            <p:cNvPicPr preferRelativeResize="0"/>
            <p:nvPr/>
          </p:nvPicPr>
          <p:blipFill rotWithShape="1">
            <a:blip r:embed="rId4">
              <a:alphaModFix/>
            </a:blip>
            <a:srcRect/>
            <a:stretch/>
          </p:blipFill>
          <p:spPr>
            <a:xfrm>
              <a:off x="268625" y="4044950"/>
              <a:ext cx="1634028" cy="568075"/>
            </a:xfrm>
            <a:prstGeom prst="rect">
              <a:avLst/>
            </a:prstGeom>
            <a:noFill/>
            <a:ln>
              <a:noFill/>
            </a:ln>
          </p:spPr>
        </p:pic>
        <p:sp>
          <p:nvSpPr>
            <p:cNvPr id="140" name="Google Shape;140;p31"/>
            <p:cNvSpPr txBox="1"/>
            <p:nvPr/>
          </p:nvSpPr>
          <p:spPr>
            <a:xfrm>
              <a:off x="0" y="4810400"/>
              <a:ext cx="9144000" cy="292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Roboto"/>
                  <a:ea typeface="Roboto"/>
                  <a:cs typeface="Roboto"/>
                  <a:sym typeface="Roboto"/>
                </a:rPr>
                <a:t>COPYRIGHT (C) 2025, ECLIPSE FOUNDATION</a:t>
              </a:r>
              <a:endParaRPr sz="700" b="0" i="0" u="none" strike="noStrike" cap="none">
                <a:solidFill>
                  <a:schemeClr val="lt1"/>
                </a:solidFill>
                <a:latin typeface="Roboto"/>
                <a:ea typeface="Roboto"/>
                <a:cs typeface="Roboto"/>
                <a:sym typeface="Roboto"/>
              </a:endParaRPr>
            </a:p>
          </p:txBody>
        </p:sp>
      </p:grpSp>
      <p:sp>
        <p:nvSpPr>
          <p:cNvPr id="141" name="Google Shape;141;p31"/>
          <p:cNvSpPr txBox="1"/>
          <p:nvPr/>
        </p:nvSpPr>
        <p:spPr>
          <a:xfrm>
            <a:off x="1924100" y="1148600"/>
            <a:ext cx="7612800" cy="203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 sz="4000" b="0" i="0" u="none" strike="noStrike" cap="none">
                <a:solidFill>
                  <a:srgbClr val="EE0C90"/>
                </a:solidFill>
                <a:latin typeface="Audiowide"/>
                <a:ea typeface="Audiowide"/>
                <a:cs typeface="Audiowide"/>
                <a:sym typeface="Audiowide"/>
              </a:rPr>
              <a:t>Chapter III - 2025</a:t>
            </a:r>
            <a:endParaRPr sz="4000" b="0" i="0" u="none" strike="noStrike" cap="none">
              <a:solidFill>
                <a:srgbClr val="EE0C90"/>
              </a:solidFill>
              <a:latin typeface="Audiowide"/>
              <a:ea typeface="Audiowide"/>
              <a:cs typeface="Audiowide"/>
              <a:sym typeface="Audiowid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32" title="2025_SDV_Hackathon_Zoombg_v1.png"/>
          <p:cNvPicPr preferRelativeResize="0"/>
          <p:nvPr/>
        </p:nvPicPr>
        <p:blipFill>
          <a:blip r:embed="rId3">
            <a:alphaModFix/>
          </a:blip>
          <a:stretch>
            <a:fillRect/>
          </a:stretch>
        </p:blipFill>
        <p:spPr>
          <a:xfrm>
            <a:off x="0" y="0"/>
            <a:ext cx="9144000" cy="5143500"/>
          </a:xfrm>
          <a:prstGeom prst="rect">
            <a:avLst/>
          </a:prstGeom>
          <a:noFill/>
          <a:ln>
            <a:noFill/>
          </a:ln>
        </p:spPr>
      </p:pic>
      <p:grpSp>
        <p:nvGrpSpPr>
          <p:cNvPr id="147" name="Google Shape;147;p32"/>
          <p:cNvGrpSpPr/>
          <p:nvPr/>
        </p:nvGrpSpPr>
        <p:grpSpPr>
          <a:xfrm>
            <a:off x="0" y="4044950"/>
            <a:ext cx="9144000" cy="1057950"/>
            <a:chOff x="0" y="4044950"/>
            <a:chExt cx="9144000" cy="1057950"/>
          </a:xfrm>
        </p:grpSpPr>
        <p:pic>
          <p:nvPicPr>
            <p:cNvPr id="148" name="Google Shape;148;p32"/>
            <p:cNvPicPr preferRelativeResize="0"/>
            <p:nvPr/>
          </p:nvPicPr>
          <p:blipFill rotWithShape="1">
            <a:blip r:embed="rId4">
              <a:alphaModFix/>
            </a:blip>
            <a:srcRect/>
            <a:stretch/>
          </p:blipFill>
          <p:spPr>
            <a:xfrm>
              <a:off x="268625" y="4044950"/>
              <a:ext cx="1634028" cy="568075"/>
            </a:xfrm>
            <a:prstGeom prst="rect">
              <a:avLst/>
            </a:prstGeom>
            <a:noFill/>
            <a:ln>
              <a:noFill/>
            </a:ln>
          </p:spPr>
        </p:pic>
        <p:sp>
          <p:nvSpPr>
            <p:cNvPr id="149" name="Google Shape;149;p32"/>
            <p:cNvSpPr txBox="1"/>
            <p:nvPr/>
          </p:nvSpPr>
          <p:spPr>
            <a:xfrm>
              <a:off x="0" y="4810400"/>
              <a:ext cx="9144000" cy="292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Roboto"/>
                  <a:ea typeface="Roboto"/>
                  <a:cs typeface="Roboto"/>
                  <a:sym typeface="Roboto"/>
                </a:rPr>
                <a:t>COPYRIGHT (C) 2025, ECLIPSE FOUNDATION</a:t>
              </a:r>
              <a:endParaRPr sz="700" b="0" i="0" u="none" strike="noStrike" cap="none">
                <a:solidFill>
                  <a:schemeClr val="lt1"/>
                </a:solidFill>
                <a:latin typeface="Roboto"/>
                <a:ea typeface="Roboto"/>
                <a:cs typeface="Roboto"/>
                <a:sym typeface="Roboto"/>
              </a:endParaRPr>
            </a:p>
          </p:txBody>
        </p:sp>
      </p:grpSp>
      <p:sp>
        <p:nvSpPr>
          <p:cNvPr id="150" name="Google Shape;150;p32"/>
          <p:cNvSpPr txBox="1"/>
          <p:nvPr/>
        </p:nvSpPr>
        <p:spPr>
          <a:xfrm>
            <a:off x="0" y="2225775"/>
            <a:ext cx="9144000" cy="2033700"/>
          </a:xfrm>
          <a:prstGeom prst="rect">
            <a:avLst/>
          </a:prstGeom>
          <a:noFill/>
          <a:ln>
            <a:noFill/>
          </a:ln>
        </p:spPr>
        <p:txBody>
          <a:bodyPr spcFirstLastPara="1" wrap="square" lIns="91425" tIns="91425" rIns="91425" bIns="91425" anchor="t" anchorCtr="0">
            <a:noAutofit/>
          </a:bodyPr>
          <a:lstStyle/>
          <a:p>
            <a:pPr marL="0" marR="0" lvl="0" indent="0" algn="ctr" rtl="0">
              <a:lnSpc>
                <a:spcPct val="150000"/>
              </a:lnSpc>
              <a:spcBef>
                <a:spcPts val="0"/>
              </a:spcBef>
              <a:spcAft>
                <a:spcPts val="0"/>
              </a:spcAft>
              <a:buNone/>
            </a:pPr>
            <a:r>
              <a:rPr lang="en" sz="4000" dirty="0">
                <a:solidFill>
                  <a:schemeClr val="lt1"/>
                </a:solidFill>
                <a:latin typeface="Audiowide"/>
                <a:ea typeface="Audiowide"/>
                <a:cs typeface="Audiowide"/>
                <a:sym typeface="Audiowide"/>
              </a:rPr>
              <a:t>PITCHING SESSION</a:t>
            </a:r>
            <a:br>
              <a:rPr lang="en" sz="4000" dirty="0">
                <a:solidFill>
                  <a:schemeClr val="lt1"/>
                </a:solidFill>
                <a:latin typeface="Audiowide"/>
                <a:ea typeface="Audiowide"/>
                <a:cs typeface="Audiowide"/>
                <a:sym typeface="Audiowide"/>
              </a:rPr>
            </a:br>
            <a:r>
              <a:rPr lang="en" sz="4000" i="1" dirty="0" err="1">
                <a:solidFill>
                  <a:schemeClr val="lt1"/>
                </a:solidFill>
                <a:latin typeface="Audiowide"/>
                <a:ea typeface="Audiowide"/>
                <a:cs typeface="Audiowide"/>
                <a:sym typeface="Audiowide"/>
              </a:rPr>
              <a:t>TheBigRanch</a:t>
            </a:r>
            <a:endParaRPr sz="4000" b="0" i="1" u="none" strike="noStrike" cap="none" dirty="0">
              <a:solidFill>
                <a:schemeClr val="lt1"/>
              </a:solidFill>
              <a:latin typeface="Audiowide"/>
              <a:ea typeface="Audiowide"/>
              <a:cs typeface="Audiowide"/>
              <a:sym typeface="Audiowid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33"/>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56" name="Google Shape;156;p33"/>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dirty="0">
                <a:solidFill>
                  <a:schemeClr val="dk1"/>
                </a:solidFill>
              </a:rPr>
              <a:t>The Plan</a:t>
            </a:r>
            <a:endParaRPr sz="800" dirty="0">
              <a:latin typeface="Audiowide"/>
              <a:ea typeface="Audiowide"/>
              <a:cs typeface="Audiowide"/>
              <a:sym typeface="Audiowide"/>
            </a:endParaRPr>
          </a:p>
        </p:txBody>
      </p:sp>
      <p:sp>
        <p:nvSpPr>
          <p:cNvPr id="157" name="Google Shape;157;p33"/>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r>
              <a:rPr lang="en-GB" sz="1600" b="1" dirty="0"/>
              <a:t>Initial Situation</a:t>
            </a:r>
            <a:br>
              <a:rPr lang="en-GB" sz="1600" dirty="0"/>
            </a:br>
            <a:r>
              <a:rPr lang="en-GB" sz="1600" dirty="0"/>
              <a:t>Road conditions are often unknown until they cause damage or accidents. Traditional reporting is manual, slow, and incomplete.</a:t>
            </a:r>
          </a:p>
          <a:p>
            <a:r>
              <a:rPr lang="en-GB" sz="1600" b="1" dirty="0"/>
              <a:t>Our Solution</a:t>
            </a:r>
            <a:br>
              <a:rPr lang="en-GB" sz="1600" dirty="0"/>
            </a:br>
            <a:r>
              <a:rPr lang="en-GB" sz="1600" dirty="0"/>
              <a:t>We built an AI-driven pothole detector that uses vehicle sensors to automatically detect, classify, and share pothole events in real time.</a:t>
            </a:r>
          </a:p>
          <a:p>
            <a:r>
              <a:rPr lang="en-GB" sz="1600" b="1" dirty="0"/>
              <a:t>Our Idea</a:t>
            </a:r>
            <a:br>
              <a:rPr lang="en-GB" sz="1600" dirty="0"/>
            </a:br>
            <a:r>
              <a:rPr lang="en-GB" sz="1600" dirty="0"/>
              <a:t>Leverage existing IMU and GPS data from cars to spot sudden bumps, translate them into pothole alerts, and map them for all users.</a:t>
            </a:r>
          </a:p>
          <a:p>
            <a:r>
              <a:rPr lang="en-GB" sz="1600" b="1" dirty="0"/>
              <a:t>Our Plan</a:t>
            </a:r>
            <a:br>
              <a:rPr lang="en-GB" sz="1600" dirty="0"/>
            </a:br>
            <a:r>
              <a:rPr lang="en-GB" sz="1600" dirty="0"/>
              <a:t>Simulate and validate detection logic, connect to CARLA via </a:t>
            </a:r>
            <a:r>
              <a:rPr lang="en-GB" sz="1600" dirty="0" err="1"/>
              <a:t>Zenoh</a:t>
            </a:r>
            <a:r>
              <a:rPr lang="en-GB" sz="1600" dirty="0"/>
              <a:t> for real data, and deliver live alerts and aggregated pothole maps.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p34"/>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63" name="Google Shape;163;p34"/>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a:solidFill>
                  <a:schemeClr val="dk1"/>
                </a:solidFill>
              </a:rPr>
              <a:t>Team and Structure</a:t>
            </a:r>
            <a:endParaRPr sz="800">
              <a:latin typeface="Audiowide"/>
              <a:ea typeface="Audiowide"/>
              <a:cs typeface="Audiowide"/>
              <a:sym typeface="Audiowide"/>
            </a:endParaRPr>
          </a:p>
        </p:txBody>
      </p:sp>
      <p:sp>
        <p:nvSpPr>
          <p:cNvPr id="164" name="Google Shape;164;p34"/>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pPr marL="12700" lvl="0" indent="0" algn="l" rtl="0">
              <a:spcBef>
                <a:spcPts val="0"/>
              </a:spcBef>
              <a:spcAft>
                <a:spcPts val="0"/>
              </a:spcAft>
              <a:buClr>
                <a:schemeClr val="dk1"/>
              </a:buClr>
              <a:buFont typeface="Arial"/>
              <a:buNone/>
            </a:pPr>
            <a:r>
              <a:rPr lang="pt-PT" sz="1800" i="1" dirty="0" err="1">
                <a:solidFill>
                  <a:schemeClr val="dk1"/>
                </a:solidFill>
                <a:latin typeface="Roboto"/>
                <a:ea typeface="Roboto"/>
                <a:cs typeface="Roboto"/>
                <a:sym typeface="Roboto"/>
              </a:rPr>
              <a:t>We</a:t>
            </a:r>
            <a:r>
              <a:rPr lang="pt-PT" sz="1800" i="1" dirty="0">
                <a:solidFill>
                  <a:schemeClr val="dk1"/>
                </a:solidFill>
                <a:latin typeface="Roboto"/>
                <a:ea typeface="Roboto"/>
                <a:cs typeface="Roboto"/>
                <a:sym typeface="Roboto"/>
              </a:rPr>
              <a:t> are 4 </a:t>
            </a:r>
            <a:r>
              <a:rPr lang="pt-PT" sz="1800" i="1" dirty="0" err="1">
                <a:solidFill>
                  <a:schemeClr val="dk1"/>
                </a:solidFill>
                <a:latin typeface="Roboto"/>
                <a:ea typeface="Roboto"/>
                <a:cs typeface="Roboto"/>
                <a:sym typeface="Roboto"/>
              </a:rPr>
              <a:t>developers</a:t>
            </a:r>
            <a:r>
              <a:rPr lang="pt-PT" sz="1800" i="1" dirty="0">
                <a:solidFill>
                  <a:schemeClr val="dk1"/>
                </a:solidFill>
                <a:latin typeface="Roboto"/>
                <a:ea typeface="Roboto"/>
                <a:cs typeface="Roboto"/>
                <a:sym typeface="Roboto"/>
              </a:rPr>
              <a:t>:</a:t>
            </a:r>
          </a:p>
          <a:p>
            <a:pPr marL="298450" lvl="0" indent="-285750" algn="l" rtl="0">
              <a:spcBef>
                <a:spcPts val="0"/>
              </a:spcBef>
              <a:spcAft>
                <a:spcPts val="0"/>
              </a:spcAft>
              <a:buClr>
                <a:schemeClr val="dk1"/>
              </a:buClr>
              <a:buFontTx/>
              <a:buChar char="-"/>
            </a:pPr>
            <a:r>
              <a:rPr lang="pt-PT" sz="1800" i="1" dirty="0">
                <a:solidFill>
                  <a:schemeClr val="dk1"/>
                </a:solidFill>
                <a:latin typeface="Roboto"/>
                <a:ea typeface="Roboto"/>
                <a:cs typeface="Roboto"/>
                <a:sym typeface="Roboto"/>
              </a:rPr>
              <a:t>Rodrigo Oliveira</a:t>
            </a:r>
          </a:p>
          <a:p>
            <a:pPr marL="298450" lvl="0" indent="-285750" algn="l" rtl="0">
              <a:spcBef>
                <a:spcPts val="0"/>
              </a:spcBef>
              <a:spcAft>
                <a:spcPts val="0"/>
              </a:spcAft>
              <a:buClr>
                <a:schemeClr val="dk1"/>
              </a:buClr>
              <a:buFontTx/>
              <a:buChar char="-"/>
            </a:pPr>
            <a:r>
              <a:rPr lang="pt-PT" sz="1800" i="1">
                <a:solidFill>
                  <a:schemeClr val="dk1"/>
                </a:solidFill>
                <a:latin typeface="Roboto"/>
                <a:ea typeface="Roboto"/>
                <a:cs typeface="Roboto"/>
                <a:sym typeface="Roboto"/>
              </a:rPr>
              <a:t>Catarina Ferreira</a:t>
            </a:r>
            <a:endParaRPr lang="pt-PT" sz="1800" i="1" dirty="0">
              <a:solidFill>
                <a:schemeClr val="dk1"/>
              </a:solidFill>
              <a:latin typeface="Roboto"/>
              <a:ea typeface="Roboto"/>
              <a:cs typeface="Roboto"/>
              <a:sym typeface="Roboto"/>
            </a:endParaRPr>
          </a:p>
          <a:p>
            <a:pPr marL="298450" lvl="0" indent="-285750" algn="l" rtl="0">
              <a:spcBef>
                <a:spcPts val="0"/>
              </a:spcBef>
              <a:spcAft>
                <a:spcPts val="0"/>
              </a:spcAft>
              <a:buClr>
                <a:schemeClr val="dk1"/>
              </a:buClr>
              <a:buFontTx/>
              <a:buChar char="-"/>
            </a:pPr>
            <a:r>
              <a:rPr lang="pt-PT" sz="1800" i="1" dirty="0">
                <a:solidFill>
                  <a:schemeClr val="dk1"/>
                </a:solidFill>
                <a:latin typeface="Roboto"/>
                <a:ea typeface="Roboto"/>
                <a:cs typeface="Roboto"/>
                <a:sym typeface="Roboto"/>
              </a:rPr>
              <a:t>Guilherme Barros</a:t>
            </a:r>
          </a:p>
          <a:p>
            <a:pPr marL="298450" lvl="0" indent="-285750" algn="l" rtl="0">
              <a:spcBef>
                <a:spcPts val="0"/>
              </a:spcBef>
              <a:spcAft>
                <a:spcPts val="0"/>
              </a:spcAft>
              <a:buClr>
                <a:schemeClr val="dk1"/>
              </a:buClr>
              <a:buFontTx/>
              <a:buChar char="-"/>
            </a:pPr>
            <a:r>
              <a:rPr lang="pt-PT" sz="1800" i="1" dirty="0">
                <a:solidFill>
                  <a:schemeClr val="dk1"/>
                </a:solidFill>
                <a:latin typeface="Roboto"/>
                <a:ea typeface="Roboto"/>
                <a:cs typeface="Roboto"/>
                <a:sym typeface="Roboto"/>
              </a:rPr>
              <a:t>Bruno de Sousa</a:t>
            </a:r>
          </a:p>
          <a:p>
            <a:pPr marL="0" marR="0" lvl="0" indent="0" algn="l" rtl="0">
              <a:lnSpc>
                <a:spcPct val="100000"/>
              </a:lnSpc>
              <a:spcBef>
                <a:spcPts val="0"/>
              </a:spcBef>
              <a:spcAft>
                <a:spcPts val="0"/>
              </a:spcAft>
              <a:buNone/>
            </a:pPr>
            <a:endParaRPr sz="1200" b="1" dirty="0">
              <a:solidFill>
                <a:schemeClr val="dk1"/>
              </a:solidFill>
              <a:highlight>
                <a:schemeClr val="lt1"/>
              </a:highlight>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35"/>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70" name="Google Shape;170;p35"/>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a:solidFill>
                  <a:schemeClr val="dk1"/>
                </a:solidFill>
              </a:rPr>
              <a:t>The Product / Service</a:t>
            </a:r>
            <a:endParaRPr sz="800">
              <a:latin typeface="Audiowide"/>
              <a:ea typeface="Audiowide"/>
              <a:cs typeface="Audiowide"/>
              <a:sym typeface="Audiowide"/>
            </a:endParaRPr>
          </a:p>
        </p:txBody>
      </p:sp>
      <p:sp>
        <p:nvSpPr>
          <p:cNvPr id="171" name="Google Shape;171;p35"/>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pPr marL="12700" lvl="0"/>
            <a:r>
              <a:rPr lang="en-GB" sz="1800" dirty="0"/>
              <a:t>Our solution leverages vehicle sensor data to automatically detect potholes in real time. By </a:t>
            </a:r>
            <a:r>
              <a:rPr lang="en-GB" sz="1800" dirty="0" err="1"/>
              <a:t>analyzing</a:t>
            </a:r>
            <a:r>
              <a:rPr lang="en-GB" sz="1800" dirty="0"/>
              <a:t> IMU and pose data, the system identifies sudden vertical accelerations and jerk patterns that signal road surface anomalies. </a:t>
            </a:r>
          </a:p>
          <a:p>
            <a:pPr marL="12700" lvl="0"/>
            <a:endParaRPr lang="en-GB" sz="1800" dirty="0"/>
          </a:p>
          <a:p>
            <a:pPr marL="12700" lvl="0"/>
            <a:r>
              <a:rPr lang="en-GB" sz="1800" dirty="0"/>
              <a:t>Detected events are classified by severity, geolocated, and published to </a:t>
            </a:r>
            <a:r>
              <a:rPr lang="en-GB" sz="1800" dirty="0" err="1"/>
              <a:t>Zenoh</a:t>
            </a:r>
            <a:r>
              <a:rPr lang="en-GB" sz="1800" dirty="0"/>
              <a:t> for live integration with in-vehicle alerts or central dashboards. </a:t>
            </a:r>
          </a:p>
          <a:p>
            <a:pPr marL="12700" lvl="0"/>
            <a:endParaRPr lang="en-GB" sz="1800" dirty="0"/>
          </a:p>
          <a:p>
            <a:pPr marL="12700" lvl="0"/>
            <a:r>
              <a:rPr lang="en-GB" sz="1800" dirty="0"/>
              <a:t>This enables a scalable, low-latency, and data-driven approach to improving road safety and infrastructure monitoring.</a:t>
            </a:r>
            <a:endParaRPr lang="en-GB" sz="1200" b="1" dirty="0">
              <a:solidFill>
                <a:schemeClr val="dk1"/>
              </a:solidFill>
              <a:highlight>
                <a:schemeClr val="lt1"/>
              </a:highlight>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36"/>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77" name="Google Shape;177;p36"/>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a:solidFill>
                  <a:schemeClr val="dk1"/>
                </a:solidFill>
              </a:rPr>
              <a:t>The Added Value</a:t>
            </a:r>
            <a:endParaRPr sz="800">
              <a:latin typeface="Audiowide"/>
              <a:ea typeface="Audiowide"/>
              <a:cs typeface="Audiowide"/>
              <a:sym typeface="Audiowide"/>
            </a:endParaRPr>
          </a:p>
        </p:txBody>
      </p:sp>
      <p:sp>
        <p:nvSpPr>
          <p:cNvPr id="178" name="Google Shape;178;p36"/>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pPr lvl="0"/>
            <a:r>
              <a:rPr lang="en-US" sz="1800" dirty="0">
                <a:highlight>
                  <a:schemeClr val="lt1"/>
                </a:highlight>
              </a:rPr>
              <a:t>Our product notifies users of road dangers like potholes in advance, providing real-time hazard alerts</a:t>
            </a:r>
          </a:p>
          <a:p>
            <a:pPr lvl="0"/>
            <a:endParaRPr lang="en-US" sz="1800" dirty="0">
              <a:highlight>
                <a:schemeClr val="lt1"/>
              </a:highlight>
            </a:endParaRPr>
          </a:p>
          <a:p>
            <a:pPr lvl="0"/>
            <a:r>
              <a:rPr lang="en-US" sz="1800" dirty="0"/>
              <a:t>It also protects vehicles by helping drivers to avoid damage and discomfort caused by poor road conditions.</a:t>
            </a:r>
          </a:p>
          <a:p>
            <a:pPr lvl="0"/>
            <a:endParaRPr lang="en-US" sz="1800" dirty="0"/>
          </a:p>
          <a:p>
            <a:pPr lvl="0"/>
            <a:r>
              <a:rPr lang="en-US" sz="1800" dirty="0"/>
              <a:t>And it enhances safety &amp; comfort, empowering users to make safer driving decisions on the go.</a:t>
            </a:r>
            <a:endParaRPr sz="1800" b="1" dirty="0">
              <a:solidFill>
                <a:schemeClr val="dk1"/>
              </a:solidFill>
              <a:highlight>
                <a:schemeClr val="lt1"/>
              </a:highlight>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37"/>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84" name="Google Shape;184;p37"/>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a:solidFill>
                  <a:schemeClr val="dk1"/>
                </a:solidFill>
              </a:rPr>
              <a:t>The Market &amp; The Competition</a:t>
            </a:r>
            <a:endParaRPr sz="800">
              <a:latin typeface="Audiowide"/>
              <a:ea typeface="Audiowide"/>
              <a:cs typeface="Audiowide"/>
              <a:sym typeface="Audiowide"/>
            </a:endParaRPr>
          </a:p>
        </p:txBody>
      </p:sp>
      <p:sp>
        <p:nvSpPr>
          <p:cNvPr id="185" name="Google Shape;185;p37"/>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pPr marL="12700" lvl="1"/>
            <a:r>
              <a:rPr lang="en-US" sz="1800" dirty="0"/>
              <a:t>Our solution offers real-time road safety insights for everyday drivers and city authorities alike. </a:t>
            </a:r>
          </a:p>
          <a:p>
            <a:pPr marL="12700" lvl="1"/>
            <a:endParaRPr lang="en-US" sz="1800" dirty="0"/>
          </a:p>
          <a:p>
            <a:pPr marL="12700" lvl="1"/>
            <a:r>
              <a:rPr lang="en-US" sz="1800" dirty="0"/>
              <a:t>Unlike apps like Waze, which rely on manual user input, we leverage vehicle sensor data to automatically detect and classify road hazards — from potholes to dangerous surfaces — enabling safer commutes and smarter infrastructure management.</a:t>
            </a:r>
            <a:endParaRPr lang="en" sz="1800" dirty="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90" name="Google Shape;190;p38"/>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91" name="Google Shape;191;p38"/>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a:solidFill>
                  <a:schemeClr val="dk1"/>
                </a:solidFill>
              </a:rPr>
              <a:t>Business Model * Plan &amp; Funds</a:t>
            </a:r>
            <a:endParaRPr sz="800">
              <a:latin typeface="Audiowide"/>
              <a:ea typeface="Audiowide"/>
              <a:cs typeface="Audiowide"/>
              <a:sym typeface="Audiowide"/>
            </a:endParaRPr>
          </a:p>
        </p:txBody>
      </p:sp>
      <p:sp>
        <p:nvSpPr>
          <p:cNvPr id="192" name="Google Shape;192;p38"/>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pPr marL="12700" lvl="0">
              <a:buClr>
                <a:schemeClr val="dk1"/>
              </a:buClr>
            </a:pPr>
            <a:r>
              <a:rPr lang="en-US" sz="1800" dirty="0"/>
              <a:t>Business model focuses on selling road condition data to government agencies and GPS platforms (e.g., Waze, Google Maps), enabling them to offer more accurate routing and road safety information to users.</a:t>
            </a:r>
          </a:p>
          <a:p>
            <a:pPr marL="12700" lvl="0">
              <a:buClr>
                <a:schemeClr val="dk1"/>
              </a:buClr>
            </a:pPr>
            <a:endParaRPr lang="en-US" sz="1800" dirty="0"/>
          </a:p>
          <a:p>
            <a:pPr marL="12700" lvl="0">
              <a:buClr>
                <a:schemeClr val="dk1"/>
              </a:buClr>
            </a:pPr>
            <a:r>
              <a:rPr lang="en-US" sz="1800" dirty="0"/>
              <a:t>Plans to integrate with automotive manufacturers, either directly or via over-the-air (OTA) updates to use existing sensors</a:t>
            </a:r>
          </a:p>
          <a:p>
            <a:pPr marL="12700" lvl="0">
              <a:buClr>
                <a:schemeClr val="dk1"/>
              </a:buClr>
            </a:pPr>
            <a:endParaRPr lang="en-US" sz="1800" dirty="0"/>
          </a:p>
          <a:p>
            <a:pPr marL="12700" lvl="0">
              <a:buClr>
                <a:schemeClr val="dk1"/>
              </a:buClr>
            </a:pPr>
            <a:r>
              <a:rPr lang="en-US" sz="1800" dirty="0"/>
              <a:t>Funding will support integration with real vehicle data, enhancing pothole detection and severity classification. It will also cover scalable, cloud-based infrastructure to support data processing and delivery</a:t>
            </a:r>
            <a:endParaRPr sz="1800" dirty="0">
              <a:solidFill>
                <a:schemeClr val="dk1"/>
              </a:solidFill>
              <a:latin typeface="Roboto"/>
              <a:ea typeface="Roboto"/>
              <a:cs typeface="Roboto"/>
              <a:sym typeface="Roboto"/>
            </a:endParaRPr>
          </a:p>
          <a:p>
            <a:pPr marL="0" marR="0" lvl="0" indent="0" algn="l" rtl="0">
              <a:lnSpc>
                <a:spcPct val="100000"/>
              </a:lnSpc>
              <a:spcBef>
                <a:spcPts val="0"/>
              </a:spcBef>
              <a:spcAft>
                <a:spcPts val="0"/>
              </a:spcAft>
              <a:buNone/>
            </a:pPr>
            <a:endParaRPr sz="1200" b="1" dirty="0">
              <a:solidFill>
                <a:schemeClr val="dk1"/>
              </a:solidFill>
              <a:highlight>
                <a:schemeClr val="lt1"/>
              </a:highlight>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7" name="Google Shape;197;p39"/>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98" name="Google Shape;198;p39"/>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a:solidFill>
                  <a:schemeClr val="dk1"/>
                </a:solidFill>
              </a:rPr>
              <a:t>Contact</a:t>
            </a:r>
            <a:endParaRPr sz="800">
              <a:latin typeface="Audiowide"/>
              <a:ea typeface="Audiowide"/>
              <a:cs typeface="Audiowide"/>
              <a:sym typeface="Audiowide"/>
            </a:endParaRPr>
          </a:p>
        </p:txBody>
      </p:sp>
      <p:sp>
        <p:nvSpPr>
          <p:cNvPr id="199" name="Google Shape;199;p39"/>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pPr marL="298450" lvl="0" indent="-285750">
              <a:buClr>
                <a:schemeClr val="dk1"/>
              </a:buClr>
              <a:buFontTx/>
              <a:buChar char="-"/>
            </a:pPr>
            <a:r>
              <a:rPr lang="pt-PT" sz="1800" i="1" dirty="0">
                <a:solidFill>
                  <a:schemeClr val="dk1"/>
                </a:solidFill>
                <a:latin typeface="Roboto"/>
                <a:ea typeface="Roboto"/>
                <a:cs typeface="Roboto"/>
                <a:sym typeface="Roboto"/>
              </a:rPr>
              <a:t>Rodrigo Oliveira – Chairman - </a:t>
            </a:r>
            <a:r>
              <a:rPr lang="pt-PT" sz="1800" i="1" dirty="0" err="1">
                <a:solidFill>
                  <a:schemeClr val="dk1"/>
                </a:solidFill>
                <a:latin typeface="Roboto"/>
                <a:ea typeface="Roboto"/>
                <a:cs typeface="Roboto"/>
                <a:sym typeface="Roboto"/>
              </a:rPr>
              <a:t>rodrigo.oliveira@engineeringhub.man</a:t>
            </a:r>
            <a:endParaRPr lang="pt-PT" sz="1800" i="1" dirty="0">
              <a:solidFill>
                <a:schemeClr val="dk1"/>
              </a:solidFill>
              <a:latin typeface="Roboto"/>
              <a:ea typeface="Roboto"/>
              <a:cs typeface="Roboto"/>
              <a:sym typeface="Roboto"/>
            </a:endParaRPr>
          </a:p>
          <a:p>
            <a:pPr marL="298450" indent="-285750">
              <a:buClr>
                <a:schemeClr val="dk1"/>
              </a:buClr>
              <a:buFontTx/>
              <a:buChar char="-"/>
            </a:pPr>
            <a:r>
              <a:rPr lang="pt-PT" sz="1800" i="1" dirty="0">
                <a:solidFill>
                  <a:schemeClr val="dk1"/>
                </a:solidFill>
                <a:latin typeface="Roboto"/>
                <a:ea typeface="Roboto"/>
                <a:cs typeface="Roboto"/>
                <a:sym typeface="Roboto"/>
              </a:rPr>
              <a:t>Catarina Ferreira – UI/UX Designer -</a:t>
            </a:r>
            <a:r>
              <a:rPr lang="en-US" sz="1800" i="1" dirty="0" err="1">
                <a:solidFill>
                  <a:schemeClr val="dk1"/>
                </a:solidFill>
                <a:latin typeface="Roboto"/>
                <a:ea typeface="Roboto"/>
                <a:cs typeface="Roboto"/>
              </a:rPr>
              <a:t>catarina.ferreira@engineeringhub.man</a:t>
            </a:r>
            <a:endParaRPr lang="pt-PT" sz="1800" i="1" dirty="0">
              <a:solidFill>
                <a:schemeClr val="dk1"/>
              </a:solidFill>
              <a:latin typeface="Roboto"/>
              <a:ea typeface="Roboto"/>
              <a:cs typeface="Roboto"/>
              <a:sym typeface="Roboto"/>
            </a:endParaRPr>
          </a:p>
          <a:p>
            <a:pPr marL="298450" lvl="0" indent="-285750">
              <a:buClr>
                <a:schemeClr val="dk1"/>
              </a:buClr>
              <a:buFontTx/>
              <a:buChar char="-"/>
            </a:pPr>
            <a:r>
              <a:rPr lang="pt-PT" sz="1800" i="1" dirty="0">
                <a:solidFill>
                  <a:schemeClr val="dk1"/>
                </a:solidFill>
                <a:latin typeface="Roboto"/>
                <a:ea typeface="Roboto"/>
                <a:cs typeface="Roboto"/>
                <a:sym typeface="Roboto"/>
              </a:rPr>
              <a:t>Guilherme Barros – </a:t>
            </a:r>
            <a:r>
              <a:rPr lang="pt-PT" sz="1800" i="1" dirty="0" err="1">
                <a:solidFill>
                  <a:schemeClr val="dk1"/>
                </a:solidFill>
                <a:latin typeface="Roboto"/>
                <a:ea typeface="Roboto"/>
                <a:cs typeface="Roboto"/>
                <a:sym typeface="Roboto"/>
              </a:rPr>
              <a:t>Finance</a:t>
            </a:r>
            <a:r>
              <a:rPr lang="pt-PT" sz="1800" i="1" dirty="0">
                <a:solidFill>
                  <a:schemeClr val="dk1"/>
                </a:solidFill>
                <a:latin typeface="Roboto"/>
                <a:ea typeface="Roboto"/>
                <a:cs typeface="Roboto"/>
                <a:sym typeface="Roboto"/>
              </a:rPr>
              <a:t> </a:t>
            </a:r>
            <a:r>
              <a:rPr lang="pt-PT" sz="1800" i="1" dirty="0" err="1">
                <a:solidFill>
                  <a:schemeClr val="dk1"/>
                </a:solidFill>
                <a:latin typeface="Roboto"/>
                <a:ea typeface="Roboto"/>
                <a:cs typeface="Roboto"/>
                <a:sym typeface="Roboto"/>
              </a:rPr>
              <a:t>and</a:t>
            </a:r>
            <a:r>
              <a:rPr lang="pt-PT" sz="1800" i="1" dirty="0">
                <a:solidFill>
                  <a:schemeClr val="dk1"/>
                </a:solidFill>
                <a:latin typeface="Roboto"/>
                <a:ea typeface="Roboto"/>
                <a:cs typeface="Roboto"/>
                <a:sym typeface="Roboto"/>
              </a:rPr>
              <a:t> </a:t>
            </a:r>
            <a:r>
              <a:rPr lang="pt-PT" sz="1800" i="1" dirty="0" err="1">
                <a:solidFill>
                  <a:schemeClr val="dk1"/>
                </a:solidFill>
                <a:latin typeface="Roboto"/>
                <a:ea typeface="Roboto"/>
                <a:cs typeface="Roboto"/>
                <a:sym typeface="Roboto"/>
              </a:rPr>
              <a:t>contracts</a:t>
            </a:r>
            <a:r>
              <a:rPr lang="pt-PT" sz="1800" i="1" dirty="0">
                <a:solidFill>
                  <a:schemeClr val="dk1"/>
                </a:solidFill>
                <a:latin typeface="Roboto"/>
                <a:ea typeface="Roboto"/>
                <a:cs typeface="Roboto"/>
                <a:sym typeface="Roboto"/>
              </a:rPr>
              <a:t> – </a:t>
            </a:r>
            <a:r>
              <a:rPr lang="pt-PT" sz="1800" i="1" dirty="0" err="1">
                <a:solidFill>
                  <a:schemeClr val="dk1"/>
                </a:solidFill>
                <a:latin typeface="Roboto"/>
                <a:ea typeface="Roboto"/>
                <a:cs typeface="Roboto"/>
                <a:sym typeface="Roboto"/>
              </a:rPr>
              <a:t>guilherme.barros@engineeringhub.man</a:t>
            </a:r>
            <a:endParaRPr lang="pt-PT" sz="1800" i="1" dirty="0">
              <a:solidFill>
                <a:schemeClr val="dk1"/>
              </a:solidFill>
              <a:latin typeface="Roboto"/>
              <a:ea typeface="Roboto"/>
              <a:cs typeface="Roboto"/>
              <a:sym typeface="Roboto"/>
            </a:endParaRPr>
          </a:p>
          <a:p>
            <a:pPr marL="298450" indent="-285750">
              <a:buClr>
                <a:schemeClr val="dk1"/>
              </a:buClr>
              <a:buFontTx/>
              <a:buChar char="-"/>
            </a:pPr>
            <a:r>
              <a:rPr lang="pt-PT" sz="1800" i="1" dirty="0">
                <a:solidFill>
                  <a:schemeClr val="dk1"/>
                </a:solidFill>
                <a:latin typeface="Roboto"/>
                <a:ea typeface="Roboto"/>
                <a:cs typeface="Roboto"/>
                <a:sym typeface="Roboto"/>
              </a:rPr>
              <a:t>Bruno de Sousa – </a:t>
            </a:r>
            <a:r>
              <a:rPr lang="pt-PT" sz="1800" i="1" dirty="0" err="1">
                <a:solidFill>
                  <a:schemeClr val="dk1"/>
                </a:solidFill>
                <a:latin typeface="Roboto"/>
                <a:ea typeface="Roboto"/>
                <a:cs typeface="Roboto"/>
                <a:sym typeface="Roboto"/>
              </a:rPr>
              <a:t>Cloud</a:t>
            </a:r>
            <a:r>
              <a:rPr lang="pt-PT" sz="1800" i="1" dirty="0">
                <a:solidFill>
                  <a:schemeClr val="dk1"/>
                </a:solidFill>
                <a:latin typeface="Roboto"/>
                <a:ea typeface="Roboto"/>
                <a:cs typeface="Roboto"/>
                <a:sym typeface="Roboto"/>
              </a:rPr>
              <a:t> </a:t>
            </a:r>
            <a:r>
              <a:rPr lang="pt-PT" sz="1800" i="1" dirty="0" err="1">
                <a:solidFill>
                  <a:schemeClr val="dk1"/>
                </a:solidFill>
                <a:latin typeface="Roboto"/>
                <a:ea typeface="Roboto"/>
                <a:cs typeface="Roboto"/>
                <a:sym typeface="Roboto"/>
              </a:rPr>
              <a:t>Archictect</a:t>
            </a:r>
            <a:r>
              <a:rPr lang="pt-PT" sz="1800" i="1" dirty="0">
                <a:solidFill>
                  <a:schemeClr val="dk1"/>
                </a:solidFill>
                <a:latin typeface="Roboto"/>
                <a:ea typeface="Roboto"/>
                <a:cs typeface="Roboto"/>
                <a:sym typeface="Roboto"/>
              </a:rPr>
              <a:t> - </a:t>
            </a:r>
            <a:r>
              <a:rPr lang="en-US" sz="1800" i="1" dirty="0" err="1">
                <a:solidFill>
                  <a:schemeClr val="dk1"/>
                </a:solidFill>
                <a:latin typeface="Roboto"/>
                <a:ea typeface="Roboto"/>
                <a:cs typeface="Roboto"/>
              </a:rPr>
              <a:t>bruno.sousa@engineeringhub.man</a:t>
            </a:r>
            <a:endParaRPr lang="en-US" sz="1800" i="1" dirty="0">
              <a:solidFill>
                <a:schemeClr val="dk1"/>
              </a:solidFill>
              <a:latin typeface="Roboto"/>
              <a:ea typeface="Roboto"/>
              <a:cs typeface="Roboto"/>
            </a:endParaRPr>
          </a:p>
          <a:p>
            <a:pPr marL="12700" lvl="0">
              <a:buClr>
                <a:schemeClr val="dk1"/>
              </a:buClr>
            </a:pPr>
            <a:endParaRPr lang="pt-PT" sz="1800" i="1" dirty="0">
              <a:solidFill>
                <a:schemeClr val="dk1"/>
              </a:solidFill>
              <a:latin typeface="Roboto"/>
              <a:ea typeface="Roboto"/>
              <a:cs typeface="Roboto"/>
              <a:sym typeface="Roboto"/>
            </a:endParaRPr>
          </a:p>
          <a:p>
            <a:pPr marL="12700" lvl="0" indent="0" algn="l" rtl="0">
              <a:spcBef>
                <a:spcPts val="0"/>
              </a:spcBef>
              <a:spcAft>
                <a:spcPts val="0"/>
              </a:spcAft>
              <a:buClr>
                <a:schemeClr val="dk1"/>
              </a:buClr>
              <a:buFont typeface="Arial"/>
              <a:buNone/>
            </a:pPr>
            <a:endParaRPr lang="en" sz="1800" dirty="0">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40" title="2025_SDV_Hackathon_Zoombg_v1.png"/>
          <p:cNvPicPr preferRelativeResize="0"/>
          <p:nvPr/>
        </p:nvPicPr>
        <p:blipFill>
          <a:blip r:embed="rId3">
            <a:alphaModFix/>
          </a:blip>
          <a:stretch>
            <a:fillRect/>
          </a:stretch>
        </p:blipFill>
        <p:spPr>
          <a:xfrm>
            <a:off x="0" y="0"/>
            <a:ext cx="9144000" cy="5143500"/>
          </a:xfrm>
          <a:prstGeom prst="rect">
            <a:avLst/>
          </a:prstGeom>
          <a:noFill/>
          <a:ln>
            <a:noFill/>
          </a:ln>
        </p:spPr>
      </p:pic>
      <p:grpSp>
        <p:nvGrpSpPr>
          <p:cNvPr id="205" name="Google Shape;205;p40"/>
          <p:cNvGrpSpPr/>
          <p:nvPr/>
        </p:nvGrpSpPr>
        <p:grpSpPr>
          <a:xfrm>
            <a:off x="0" y="4044950"/>
            <a:ext cx="9144000" cy="1057950"/>
            <a:chOff x="0" y="4044950"/>
            <a:chExt cx="9144000" cy="1057950"/>
          </a:xfrm>
        </p:grpSpPr>
        <p:pic>
          <p:nvPicPr>
            <p:cNvPr id="206" name="Google Shape;206;p40"/>
            <p:cNvPicPr preferRelativeResize="0"/>
            <p:nvPr/>
          </p:nvPicPr>
          <p:blipFill rotWithShape="1">
            <a:blip r:embed="rId4">
              <a:alphaModFix/>
            </a:blip>
            <a:srcRect/>
            <a:stretch/>
          </p:blipFill>
          <p:spPr>
            <a:xfrm>
              <a:off x="268625" y="4044950"/>
              <a:ext cx="1634028" cy="568075"/>
            </a:xfrm>
            <a:prstGeom prst="rect">
              <a:avLst/>
            </a:prstGeom>
            <a:noFill/>
            <a:ln>
              <a:noFill/>
            </a:ln>
          </p:spPr>
        </p:pic>
        <p:sp>
          <p:nvSpPr>
            <p:cNvPr id="207" name="Google Shape;207;p40"/>
            <p:cNvSpPr txBox="1"/>
            <p:nvPr/>
          </p:nvSpPr>
          <p:spPr>
            <a:xfrm>
              <a:off x="0" y="4810400"/>
              <a:ext cx="9144000" cy="292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Roboto"/>
                  <a:ea typeface="Roboto"/>
                  <a:cs typeface="Roboto"/>
                  <a:sym typeface="Roboto"/>
                </a:rPr>
                <a:t>COPYRIGHT (C) 2025, ECLIPSE FOUNDATION</a:t>
              </a:r>
              <a:endParaRPr sz="700" b="0" i="0" u="none" strike="noStrike" cap="none">
                <a:solidFill>
                  <a:schemeClr val="lt1"/>
                </a:solidFill>
                <a:latin typeface="Roboto"/>
                <a:ea typeface="Roboto"/>
                <a:cs typeface="Roboto"/>
                <a:sym typeface="Roboto"/>
              </a:endParaRPr>
            </a:p>
          </p:txBody>
        </p:sp>
      </p:grpSp>
      <p:sp>
        <p:nvSpPr>
          <p:cNvPr id="208" name="Google Shape;208;p40"/>
          <p:cNvSpPr txBox="1"/>
          <p:nvPr/>
        </p:nvSpPr>
        <p:spPr>
          <a:xfrm>
            <a:off x="0" y="2073175"/>
            <a:ext cx="9144000" cy="203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5000" dirty="0">
                <a:solidFill>
                  <a:schemeClr val="lt1"/>
                </a:solidFill>
                <a:latin typeface="Audiowide"/>
                <a:ea typeface="Audiowide"/>
                <a:cs typeface="Audiowide"/>
                <a:sym typeface="Audiowide"/>
              </a:rPr>
              <a:t>Thank You </a:t>
            </a:r>
          </a:p>
          <a:p>
            <a:pPr marL="0" lvl="0" indent="0" algn="ctr" rtl="0">
              <a:spcBef>
                <a:spcPts val="0"/>
              </a:spcBef>
              <a:spcAft>
                <a:spcPts val="0"/>
              </a:spcAft>
              <a:buClr>
                <a:schemeClr val="dk1"/>
              </a:buClr>
              <a:buSzPts val="1100"/>
              <a:buFont typeface="Arial"/>
              <a:buNone/>
            </a:pPr>
            <a:r>
              <a:rPr lang="en" sz="5000" dirty="0">
                <a:solidFill>
                  <a:schemeClr val="lt1"/>
                </a:solidFill>
                <a:latin typeface="Audiowide"/>
                <a:ea typeface="Audiowide"/>
                <a:cs typeface="Audiowide"/>
                <a:sym typeface="Wingdings" pitchFamily="2" charset="2"/>
              </a:rPr>
              <a:t></a:t>
            </a:r>
            <a:endParaRPr lang="en" sz="5000" dirty="0">
              <a:solidFill>
                <a:schemeClr val="lt1"/>
              </a:solidFill>
              <a:latin typeface="Audiowide"/>
              <a:ea typeface="Audiowide"/>
              <a:cs typeface="Audiowide"/>
              <a:sym typeface="Audiowide"/>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bb139ea-6c0f-483b-849b-f4eb908d0141}" enabled="1" method="Standard" siteId="{ccc63daa-d84b-4abd-98fd-4eeb839de273}" contentBits="2" removed="0"/>
</clbl:labelList>
</file>

<file path=docProps/app.xml><?xml version="1.0" encoding="utf-8"?>
<Properties xmlns="http://schemas.openxmlformats.org/officeDocument/2006/extended-properties" xmlns:vt="http://schemas.openxmlformats.org/officeDocument/2006/docPropsVTypes">
  <TotalTime>51</TotalTime>
  <Words>507</Words>
  <Application>Microsoft Macintosh PowerPoint</Application>
  <PresentationFormat>On-screen Show (16:9)</PresentationFormat>
  <Paragraphs>45</Paragraphs>
  <Slides>10</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Audiowide</vt:lpstr>
      <vt:lpstr>Roboto</vt:lpstr>
      <vt:lpstr>Helvetica Neue Light</vt:lpstr>
      <vt:lpstr>Simple Light</vt:lpstr>
      <vt:lpstr>Simple Light</vt:lpstr>
      <vt:lpstr>PowerPoint Presentation</vt:lpstr>
      <vt:lpstr>PowerPoint Presentation</vt:lpstr>
      <vt:lpstr>The Plan</vt:lpstr>
      <vt:lpstr>Team and Structure</vt:lpstr>
      <vt:lpstr>The Product / Service</vt:lpstr>
      <vt:lpstr>The Added Value</vt:lpstr>
      <vt:lpstr>The Market &amp; The Competition</vt:lpstr>
      <vt:lpstr>Business Model * Plan &amp; Funds</vt:lpstr>
      <vt:lpstr>Contact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Barros, Guilherme (EXTERN: TGRAMTT)</cp:lastModifiedBy>
  <cp:revision>2</cp:revision>
  <dcterms:modified xsi:type="dcterms:W3CDTF">2025-10-01T19:06:15Z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Simple Light:3\Simple Light:3</vt:lpwstr>
  </property>
  <property fmtid="{D5CDD505-2E9C-101B-9397-08002B2CF9AE}" pid="3" name="ClassificationContentMarkingFooterText">
    <vt:lpwstr>INTERNAL</vt:lpwstr>
  </property>
</Properties>
</file>